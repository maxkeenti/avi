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0693400" cy="6019800"/>
  <p:notesSz cx="6858000" cy="9144000"/>
  <p:embeddedFontLst>
    <p:embeddedFont>
      <p:font typeface="ITC Avant Garde Gothic Bold Italics" charset="1" panose="020B0802020202090204"/>
      <p:regular r:id="rId23"/>
    </p:embeddedFont>
    <p:embeddedFont>
      <p:font typeface="ITC Avant Garde Gothic Bold" charset="1" panose="020B0802020202020204"/>
      <p:regular r:id="rId24"/>
    </p:embeddedFont>
    <p:embeddedFont>
      <p:font typeface="Arimo Bold" charset="1" panose="020B0704020202020204"/>
      <p:regular r:id="rId25"/>
    </p:embeddedFont>
    <p:embeddedFont>
      <p:font typeface="IBM Plex Sans Condensed Bold" charset="1" panose="020B0806050203000203"/>
      <p:regular r:id="rId26"/>
    </p:embeddedFont>
    <p:embeddedFont>
      <p:font typeface="IBM Plex Sans" charset="1" panose="020B0503050203000203"/>
      <p:regular r:id="rId27"/>
    </p:embeddedFont>
    <p:embeddedFont>
      <p:font typeface="Open Sans Bold Italics" charset="1" panose="020B0806030504020204"/>
      <p:regular r:id="rId28"/>
    </p:embeddedFont>
    <p:embeddedFont>
      <p:font typeface="Open Sans" charset="1" panose="020B0606030504020204"/>
      <p:regular r:id="rId29"/>
    </p:embeddedFont>
    <p:embeddedFont>
      <p:font typeface="ITC Avant Garde Gothic" charset="1" panose="020B0502020202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svg" Type="http://schemas.openxmlformats.org/officeDocument/2006/relationships/image"/><Relationship Id="rId8" Target="slide17.xml" Type="http://schemas.openxmlformats.org/officeDocument/2006/relationships/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7.xml" Type="http://schemas.openxmlformats.org/officeDocument/2006/relationships/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7.xml" Type="http://schemas.openxmlformats.org/officeDocument/2006/relationships/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7.xml" Type="http://schemas.openxmlformats.org/officeDocument/2006/relationships/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7.xml" Type="http://schemas.openxmlformats.org/officeDocument/2006/relationships/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7.xml" Type="http://schemas.openxmlformats.org/officeDocument/2006/relationships/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7.xml" Type="http://schemas.openxmlformats.org/officeDocument/2006/relationships/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7.xml" Type="http://schemas.openxmlformats.org/officeDocument/2006/relationships/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7.xml" Type="http://schemas.openxmlformats.org/officeDocument/2006/relationships/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7.xml" Type="http://schemas.openxmlformats.org/officeDocument/2006/relationships/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17.xml" Type="http://schemas.openxmlformats.org/officeDocument/2006/relationships/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auganix.org/?p=18076" TargetMode="External" Type="http://schemas.openxmlformats.org/officeDocument/2006/relationships/hyperlink"/><Relationship Id="rId11" Target="https://www.auganix.org/?p=18076" TargetMode="External" Type="http://schemas.openxmlformats.org/officeDocument/2006/relationships/hyperlink"/><Relationship Id="rId12" Target="https://library.educause.edu/resources/2020/3/2020-educause-horizon-report-teaching-and-learning-edition" TargetMode="External" Type="http://schemas.openxmlformats.org/officeDocument/2006/relationships/hyperlink"/><Relationship Id="rId13" Target="https://library.educause.edu/resources/2020/3/2020-educause-horizon-report-teaching-and-learning-edition" TargetMode="External" Type="http://schemas.openxmlformats.org/officeDocument/2006/relationships/hyperlink"/><Relationship Id="rId14" Target="https://library.educause.edu/resources/2020/3/2020-educause-horizon-report-teaching-and-learning-edition" TargetMode="External" Type="http://schemas.openxmlformats.org/officeDocument/2006/relationships/hyperlink"/><Relationship Id="rId15" Target="https://library.educause.edu/resources/2020/3/2020-educause-horizon-report-teaching-and-learning-edition" TargetMode="External" Type="http://schemas.openxmlformats.org/officeDocument/2006/relationships/hyperlink"/><Relationship Id="rId16" Target="https://library.educause.edu/resources/2020/3/2020-educause-horizon-report-teaching-and-learning-edition" TargetMode="External" Type="http://schemas.openxmlformats.org/officeDocument/2006/relationships/hyperlink"/><Relationship Id="rId17" Target="https://library.educause.edu/resources/2020/3/2020-educause-horizon-report-teaching-and-learning-edition" TargetMode="External" Type="http://schemas.openxmlformats.org/officeDocument/2006/relationships/hyperlink"/><Relationship Id="rId18" Target="https://library.educause.edu/resources/2020/3/2020-educause-horizon-report-teaching-and-learning-edition" TargetMode="External" Type="http://schemas.openxmlformats.org/officeDocument/2006/relationships/hyperlink"/><Relationship Id="rId19" Target="https://library.educause.edu/resources/2020/3/2020-educause-horizon-report-teaching-and-learning-edition" TargetMode="External" Type="http://schemas.openxmlformats.org/officeDocument/2006/relationships/hyperlink"/><Relationship Id="rId2" Target="https://abiresearch.com/news-resources/chart-data/extended-reality-xr-market-size" TargetMode="External" Type="http://schemas.openxmlformats.org/officeDocument/2006/relationships/hyperlink"/><Relationship Id="rId20" Target="https://library.educause.edu/resources/2020/3/2020-educause-horizon-report-teaching-and-learning-edition" TargetMode="External" Type="http://schemas.openxmlformats.org/officeDocument/2006/relationships/hyperlink"/><Relationship Id="rId21" Target="https://library.educause.edu/resources/2020/3/2020-educause-horizon-report-teaching-and-learning-edition" TargetMode="External" Type="http://schemas.openxmlformats.org/officeDocument/2006/relationships/hyperlink"/><Relationship Id="rId22" Target="https://www.everycrsreport.com/reports/IF13022.html" TargetMode="External" Type="http://schemas.openxmlformats.org/officeDocument/2006/relationships/hyperlink"/><Relationship Id="rId23" Target="https://www.everycrsreport.com/reports/IF13022.html" TargetMode="External" Type="http://schemas.openxmlformats.org/officeDocument/2006/relationships/hyperlink"/><Relationship Id="rId24" Target="https://doi.org/10.1007/s10648-020-09586-2" TargetMode="External" Type="http://schemas.openxmlformats.org/officeDocument/2006/relationships/hyperlink"/><Relationship Id="rId25" Target="https://doi.org/10.1007/s10648-020-09586-2" TargetMode="External" Type="http://schemas.openxmlformats.org/officeDocument/2006/relationships/hyperlink"/><Relationship Id="rId26" Target="https://doi.org/10.1007/s10648-020-09586-2" TargetMode="External" Type="http://schemas.openxmlformats.org/officeDocument/2006/relationships/hyperlink"/><Relationship Id="rId27" Target="https://www.marketingdive.com/news/ars-role-in-shopping-poised-to-swell-in-next-5-years-publicis-and-snap-fi/600839/" TargetMode="External" Type="http://schemas.openxmlformats.org/officeDocument/2006/relationships/hyperlink"/><Relationship Id="rId28" Target="https://www.marketingdive.com/news/ars-role-in-shopping-poised-to-swell-in-next-5-years-publicis-and-snap-fi/600839/" TargetMode="External" Type="http://schemas.openxmlformats.org/officeDocument/2006/relationships/hyperlink"/><Relationship Id="rId29" Target="https://www.marketingdive.com/news/ars-role-in-shopping-poised-to-swell-in-next-5-years-publicis-and-snap-fi/600839/" TargetMode="External" Type="http://schemas.openxmlformats.org/officeDocument/2006/relationships/hyperlink"/><Relationship Id="rId3" Target="https://abiresearch.com/news-resources/chart-data/extended-reality-xr-market-size" TargetMode="External" Type="http://schemas.openxmlformats.org/officeDocument/2006/relationships/hyperlink"/><Relationship Id="rId30" Target="https://global.ieice.org/en_transactions/information/10.1587/e77-d_12_1321/_p" TargetMode="External" Type="http://schemas.openxmlformats.org/officeDocument/2006/relationships/hyperlink"/><Relationship Id="rId31" Target="https://global.ieice.org/en_transactions/information/10.1587/e77-d_12_1321/_p" TargetMode="External" Type="http://schemas.openxmlformats.org/officeDocument/2006/relationships/hyperlink"/><Relationship Id="rId32" Target="https://global.ieice.org/en_transactions/information/10.1587/e77-d_12_1321/_p" TargetMode="External" Type="http://schemas.openxmlformats.org/officeDocument/2006/relationships/hyperlink"/><Relationship Id="rId33" Target="https://global.ieice.org/en_transactions/information/10.1587/e77-d_12_1321/_p" TargetMode="External" Type="http://schemas.openxmlformats.org/officeDocument/2006/relationships/hyperlink"/><Relationship Id="rId34" Target="https://global.ieice.org/en_transactions/information/10.1587/e77-d_12_1321/_p" TargetMode="External" Type="http://schemas.openxmlformats.org/officeDocument/2006/relationships/hyperlink"/><Relationship Id="rId35" Target="https://www.pwc.com/gx/en/news-room/press-releases/2019/seeing-is-believing-vr-ar.html" TargetMode="External" Type="http://schemas.openxmlformats.org/officeDocument/2006/relationships/hyperlink"/><Relationship Id="rId36" Target="https://www.pwc.com/gx/en/news-room/press-releases/2019/seeing-is-believing-vr-ar.html" TargetMode="External" Type="http://schemas.openxmlformats.org/officeDocument/2006/relationships/hyperlink"/><Relationship Id="rId37" Target="https://www.pwc.com/gx/en/news-room/press-releases/2019/seeing-is-believing-vr-ar.html" TargetMode="External" Type="http://schemas.openxmlformats.org/officeDocument/2006/relationships/hyperlink"/><Relationship Id="rId38" Target="https://www.pwc.com/gx/en/news-room/press-releases/2019/seeing-is-believing-vr-ar.html" TargetMode="External" Type="http://schemas.openxmlformats.org/officeDocument/2006/relationships/hyperlink"/><Relationship Id="rId39" Target="https://www.pwc.com/us/vlearning" TargetMode="External" Type="http://schemas.openxmlformats.org/officeDocument/2006/relationships/hyperlink"/><Relationship Id="rId4" Target="https://abiresearch.com/news-resources/chart-data/extended-reality-xr-market-size" TargetMode="External" Type="http://schemas.openxmlformats.org/officeDocument/2006/relationships/hyperlink"/><Relationship Id="rId40" Target="https://www.pwc.com/us/vlearning" TargetMode="External" Type="http://schemas.openxmlformats.org/officeDocument/2006/relationships/hyperlink"/><Relationship Id="rId41" Target="https://doi.org/10.1016/j.compedu.2019.103778" TargetMode="External" Type="http://schemas.openxmlformats.org/officeDocument/2006/relationships/hyperlink"/><Relationship Id="rId42" Target="https://doi.org/10.1016/j.compedu.2019.103778" TargetMode="External" Type="http://schemas.openxmlformats.org/officeDocument/2006/relationships/hyperlink"/><Relationship Id="rId43" Target="https://doi.org/10.1016/j.compedu.2019.103778" TargetMode="External" Type="http://schemas.openxmlformats.org/officeDocument/2006/relationships/hyperlink"/><Relationship Id="rId44" Target="https://roadtovr.com/meta-ray-ban-smart-glasses-sales-tripled-2025/" TargetMode="External" Type="http://schemas.openxmlformats.org/officeDocument/2006/relationships/hyperlink"/><Relationship Id="rId45" Target="https://roadtovr.com/meta-ray-ban-smart-glasses-sales-tripled-2025/" TargetMode="External" Type="http://schemas.openxmlformats.org/officeDocument/2006/relationships/hyperlink"/><Relationship Id="rId46" Target="https://roadtovr.com/meta-ray-ban-smart-glasses-sales-tripled-2025/" TargetMode="External" Type="http://schemas.openxmlformats.org/officeDocument/2006/relationships/hyperlink"/><Relationship Id="rId47" Target="https://roadtovr.com/meta-ray-ban-smart-glasses-sales-tripled-2025/" TargetMode="External" Type="http://schemas.openxmlformats.org/officeDocument/2006/relationships/hyperlink"/><Relationship Id="rId48" Target="https://roadtovr.com/meta-ray-ban-smart-glasses-sales-tripled-2025/" TargetMode="External" Type="http://schemas.openxmlformats.org/officeDocument/2006/relationships/hyperlink"/><Relationship Id="rId49" Target="https://www.idc.com/resource-center/blog/smart-glasses-surge-the-xr-market-is-rewriting-its-own-rules/" TargetMode="External" Type="http://schemas.openxmlformats.org/officeDocument/2006/relationships/hyperlink"/><Relationship Id="rId5" Target="https://abiresearch.com/news-resources/chart-data/extended-reality-xr-market-size" TargetMode="External" Type="http://schemas.openxmlformats.org/officeDocument/2006/relationships/hyperlink"/><Relationship Id="rId50" Target="https://www.idc.com/resource-center/blog/smart-glasses-surge-the-xr-market-is-rewriting-its-own-rules/" TargetMode="External" Type="http://schemas.openxmlformats.org/officeDocument/2006/relationships/hyperlink"/><Relationship Id="rId51" Target="https://www.idc.com/resource-center/blog/smart-glasses-surge-the-xr-market-is-rewriting-its-own-rules/" TargetMode="External" Type="http://schemas.openxmlformats.org/officeDocument/2006/relationships/hyperlink"/><Relationship Id="rId52" Target="https://www.idc.com/resource-center/blog/smart-glasses-surge-the-xr-market-is-rewriting-its-own-rules/" TargetMode="External" Type="http://schemas.openxmlformats.org/officeDocument/2006/relationships/hyperlink"/><Relationship Id="rId53" Target="https://www.deloitte.com/us/en/insights/industry/manufacturing-industrial-products/industrial-metaverse-applications-smart-factory.html" TargetMode="External" Type="http://schemas.openxmlformats.org/officeDocument/2006/relationships/hyperlink"/><Relationship Id="rId54" Target="https://www.deloitte.com/us/en/insights/industry/manufacturing-industrial-products/industrial-metaverse-applications-smart-factory.html" TargetMode="External" Type="http://schemas.openxmlformats.org/officeDocument/2006/relationships/hyperlink"/><Relationship Id="rId55" Target="https://www.deloitte.com/us/en/insights/industry/manufacturing-industrial-products/industrial-metaverse-applications-smart-factory.html" TargetMode="External" Type="http://schemas.openxmlformats.org/officeDocument/2006/relationships/hyperlink"/><Relationship Id="rId56" Target="https://www.deloitte.com/us/en/insights/industry/manufacturing-industrial-products/industrial-metaverse-applications-smart-factory.html" TargetMode="External" Type="http://schemas.openxmlformats.org/officeDocument/2006/relationships/hyperlink"/><Relationship Id="rId57" Target="https://www.deloitte.com/us/en/insights/industry/manufacturing-industrial-products/industrial-metaverse-applications-smart-factory.html" TargetMode="External" Type="http://schemas.openxmlformats.org/officeDocument/2006/relationships/hyperlink"/><Relationship Id="rId58" Target="https://www.deloitte.com/us/en/insights/industry/manufacturing-industrial-products/industrial-metaverse-applications-smart-factory.html" TargetMode="External" Type="http://schemas.openxmlformats.org/officeDocument/2006/relationships/hyperlink"/><Relationship Id="rId59" Target="https://www.deloitte.com/us/en/insights/industry/manufacturing-industrial-products/industrial-metaverse-applications-smart-factory.html" TargetMode="External" Type="http://schemas.openxmlformats.org/officeDocument/2006/relationships/hyperlink"/><Relationship Id="rId6" Target="https://abiresearch.com/news-resources/chart-data/extended-reality-xr-market-size" TargetMode="External" Type="http://schemas.openxmlformats.org/officeDocument/2006/relationships/hyperlink"/><Relationship Id="rId60" Target="https://www.deloitte.com/us/en/insights/industry/manufacturing-industrial-products/industrial-metaverse-applications-smart-factory.html" TargetMode="External" Type="http://schemas.openxmlformats.org/officeDocument/2006/relationships/hyperlink"/><Relationship Id="rId61" Target="https://www.deloitte.com/us/en/insights/industry/manufacturing-industrial-products/industrial-metaverse-applications-smart-factory.html" TargetMode="External" Type="http://schemas.openxmlformats.org/officeDocument/2006/relationships/hyperlink"/><Relationship Id="rId62" Target="https://www.deloitte.com/us/en/insights/industry/manufacturing-industrial-products/industrial-metaverse-applications-smart-factory.html" TargetMode="External" Type="http://schemas.openxmlformats.org/officeDocument/2006/relationships/hyperlink"/><Relationship Id="rId63" Target="https://www.deloitte.com/us/en/insights/industry/manufacturing-industrial-products/industrial-metaverse-applications-smart-factory.html" TargetMode="External" Type="http://schemas.openxmlformats.org/officeDocument/2006/relationships/hyperlink"/><Relationship Id="rId64" Target="https://www.deloitte.com/us/en/insights/industry/manufacturing-industrial-products/industrial-metaverse-applications-smart-factory.html" TargetMode="External" Type="http://schemas.openxmlformats.org/officeDocument/2006/relationships/hyperlink"/><Relationship Id="rId65" Target="https://www.deloitte.com/us/en/insights/industry/manufacturing-industrial-products/industrial-metaverse-applications-smart-factory.html" TargetMode="External" Type="http://schemas.openxmlformats.org/officeDocument/2006/relationships/hyperlink"/><Relationship Id="rId66" Target="https://www.deloitte.com/us/en/insights/industry/manufacturing-industrial-products/industrial-metaverse-applications-smart-factory.html" TargetMode="External" Type="http://schemas.openxmlformats.org/officeDocument/2006/relationships/hyperlink"/><Relationship Id="rId67" Target="https://www.deloitte.com/us/en/insights/industry/manufacturing-industrial-products/industrial-metaverse-applications-smart-factory.html" TargetMode="External" Type="http://schemas.openxmlformats.org/officeDocument/2006/relationships/hyperlink"/><Relationship Id="rId68" Target="https://www.deloitte.com/us/en/insights/industry/manufacturing-industrial-products/industrial-metaverse-applications-smart-factory.html" TargetMode="External" Type="http://schemas.openxmlformats.org/officeDocument/2006/relationships/hyperlink"/><Relationship Id="rId69" Target="https://www.deloitte.com/us/en/insights/industry/manufacturing-industrial-products/industrial-metaverse-applications-smart-factory.html" TargetMode="External" Type="http://schemas.openxmlformats.org/officeDocument/2006/relationships/hyperlink"/><Relationship Id="rId7" Target="https://doi.org/10.1016/j.ijsu.2016.03.034" TargetMode="External" Type="http://schemas.openxmlformats.org/officeDocument/2006/relationships/hyperlink"/><Relationship Id="rId70" Target="https://www.deloitte.com/us/en/insights/industry/manufacturing-industrial-products/industrial-metaverse-applications-smart-factory.html" TargetMode="External" Type="http://schemas.openxmlformats.org/officeDocument/2006/relationships/hyperlink"/><Relationship Id="rId71" Target="https://www.deloitte.com/us/en/insights/industry/manufacturing-industrial-products/industrial-metaverse-applications-smart-factory.html" TargetMode="External" Type="http://schemas.openxmlformats.org/officeDocument/2006/relationships/hyperlink"/><Relationship Id="rId72" Target="https://www.deloitte.com/us/en/insights/industry/manufacturing-industrial-products/industrial-metaverse-applications-smart-factory.html" TargetMode="External" Type="http://schemas.openxmlformats.org/officeDocument/2006/relationships/hyperlink"/><Relationship Id="rId73" Target="https://www.deloitte.com/us/en/insights/industry/manufacturing-industrial-products/industrial-metaverse-applications-smart-factory.html" TargetMode="External" Type="http://schemas.openxmlformats.org/officeDocument/2006/relationships/hyperlink"/><Relationship Id="rId74" Target="https://www.deloitte.com/us/en/insights/industry/manufacturing-industrial-products/industrial-metaverse-applications-smart-factory.html" TargetMode="External" Type="http://schemas.openxmlformats.org/officeDocument/2006/relationships/hyperlink"/><Relationship Id="rId75" Target="https://www.deloitte.com/us/en/insights/industry/manufacturing-industrial-products/industrial-metaverse-applications-smart-factory.html" TargetMode="External" Type="http://schemas.openxmlformats.org/officeDocument/2006/relationships/hyperlink"/><Relationship Id="rId76" Target="https://www.deloitte.com/us/en/insights/industry/manufacturing-industrial-products/industrial-metaverse-applications-smart-factory.html" TargetMode="External" Type="http://schemas.openxmlformats.org/officeDocument/2006/relationships/hyperlink"/><Relationship Id="rId77" Target="https://www.deloitte.com/us/en/insights/industry/manufacturing-industrial-products/industrial-metaverse-applications-smart-factory.html" TargetMode="External" Type="http://schemas.openxmlformats.org/officeDocument/2006/relationships/hyperlink"/><Relationship Id="rId78" Target="https://www.deloitte.com/us/en/insights/industry/manufacturing-industrial-products/industrial-metaverse-applications-smart-factory.html" TargetMode="External" Type="http://schemas.openxmlformats.org/officeDocument/2006/relationships/hyperlink"/><Relationship Id="rId79" Target="https://www.deloitte.com/us/en/insights/industry/manufacturing-industrial-products/industrial-metaverse-applications-smart-factory.html" TargetMode="External" Type="http://schemas.openxmlformats.org/officeDocument/2006/relationships/hyperlink"/><Relationship Id="rId8" Target="https://doi.org/10.1016/j.ijsu.2016.03.034" TargetMode="External" Type="http://schemas.openxmlformats.org/officeDocument/2006/relationships/hyperlink"/><Relationship Id="rId9" Target="https://doi.org/10.1016/j.ijsu.2016.03.034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996" y="468001"/>
            <a:ext cx="418605" cy="720004"/>
          </a:xfrm>
          <a:custGeom>
            <a:avLst/>
            <a:gdLst/>
            <a:ahLst/>
            <a:cxnLst/>
            <a:rect r="r" b="b" t="t" l="l"/>
            <a:pathLst>
              <a:path h="720004" w="418605">
                <a:moveTo>
                  <a:pt x="0" y="0"/>
                </a:moveTo>
                <a:lnTo>
                  <a:pt x="418604" y="0"/>
                </a:lnTo>
                <a:lnTo>
                  <a:pt x="418604" y="720005"/>
                </a:lnTo>
                <a:lnTo>
                  <a:pt x="0" y="7200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83195" y="404498"/>
            <a:ext cx="696306" cy="847001"/>
          </a:xfrm>
          <a:custGeom>
            <a:avLst/>
            <a:gdLst/>
            <a:ahLst/>
            <a:cxnLst/>
            <a:rect r="r" b="b" t="t" l="l"/>
            <a:pathLst>
              <a:path h="847001" w="696306">
                <a:moveTo>
                  <a:pt x="0" y="0"/>
                </a:moveTo>
                <a:lnTo>
                  <a:pt x="696306" y="0"/>
                </a:lnTo>
                <a:lnTo>
                  <a:pt x="696306" y="847001"/>
                </a:lnTo>
                <a:lnTo>
                  <a:pt x="0" y="8470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5996" y="3893982"/>
            <a:ext cx="2384422" cy="159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8"/>
              </a:lnSpc>
            </a:pPr>
            <a:r>
              <a:rPr lang="en-US" b="true" sz="1200" i="true">
                <a:solidFill>
                  <a:srgbClr val="B9B3D9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 7</a:t>
            </a:r>
          </a:p>
          <a:p>
            <a:pPr algn="l">
              <a:lnSpc>
                <a:spcPts val="1788"/>
              </a:lnSpc>
            </a:pPr>
            <a:r>
              <a:rPr lang="en-US" b="true" sz="12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Alatorre Fuentes Eduardo</a:t>
            </a:r>
          </a:p>
          <a:p>
            <a:pPr algn="l">
              <a:lnSpc>
                <a:spcPts val="1788"/>
              </a:lnSpc>
            </a:pPr>
            <a:r>
              <a:rPr lang="en-US" b="true" sz="12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Cruz Cruz Guillermo</a:t>
            </a:r>
          </a:p>
          <a:p>
            <a:pPr algn="l">
              <a:lnSpc>
                <a:spcPts val="1788"/>
              </a:lnSpc>
            </a:pPr>
            <a:r>
              <a:rPr lang="en-US" b="true" sz="12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Flores Roa Jorge Alejandro González Calzada Maximiliano Neri Mondragón Mónica</a:t>
            </a:r>
          </a:p>
          <a:p>
            <a:pPr algn="l">
              <a:lnSpc>
                <a:spcPts val="1788"/>
              </a:lnSpc>
            </a:pPr>
            <a:r>
              <a:rPr lang="en-US" b="true" sz="12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Soto Soto Héctor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47233" y="712099"/>
            <a:ext cx="2903772" cy="22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i="true">
                <a:solidFill>
                  <a:srgbClr val="B9B3D9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Instituto Politécnico Nacional · UPIICSA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290996" y="4480350"/>
            <a:ext cx="2253377" cy="1008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8"/>
              </a:lnSpc>
            </a:pPr>
            <a:r>
              <a:rPr lang="en-US" b="true" sz="1200" i="true">
                <a:solidFill>
                  <a:srgbClr val="B9B3D9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Profesora</a:t>
            </a:r>
          </a:p>
          <a:p>
            <a:pPr algn="l">
              <a:lnSpc>
                <a:spcPts val="1788"/>
              </a:lnSpc>
            </a:pPr>
            <a:r>
              <a:rPr lang="en-US" b="true" sz="12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Bustamante Tranquilino Rocío </a:t>
            </a:r>
            <a:r>
              <a:rPr lang="en-US" b="true" sz="1200" i="true">
                <a:solidFill>
                  <a:srgbClr val="B9B3D9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Secuencia y periodo</a:t>
            </a:r>
          </a:p>
          <a:p>
            <a:pPr algn="l">
              <a:lnSpc>
                <a:spcPts val="1788"/>
              </a:lnSpc>
            </a:pPr>
            <a:r>
              <a:rPr lang="en-US" b="true" sz="12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7NM78 · 2027 - 1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5996" y="1419015"/>
            <a:ext cx="8052359" cy="2349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b="true" sz="1599" i="true">
                <a:solidFill>
                  <a:srgbClr val="B9B3D9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Indagación · Ambientes Virtuales Inmersivos</a:t>
            </a:r>
          </a:p>
          <a:p>
            <a:pPr algn="l">
              <a:lnSpc>
                <a:spcPts val="5364"/>
              </a:lnSpc>
            </a:pPr>
            <a:r>
              <a:rPr lang="en-US" b="true" sz="3600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Expectativas de la Realidad Extendida como tecnología </a:t>
            </a:r>
            <a:r>
              <a:rPr lang="en-US" b="true" sz="3600">
                <a:solidFill>
                  <a:srgbClr val="A382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core</a:t>
            </a:r>
            <a:r>
              <a:rPr lang="en-US" b="true" sz="3600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en la industria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2502" y="1167679"/>
            <a:ext cx="4753004" cy="2862996"/>
            <a:chOff x="0" y="0"/>
            <a:chExt cx="4753000" cy="2862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4625975" cy="2735960"/>
            </a:xfrm>
            <a:custGeom>
              <a:avLst/>
              <a:gdLst/>
              <a:ahLst/>
              <a:cxnLst/>
              <a:rect r="r" b="b" t="t" l="l"/>
              <a:pathLst>
                <a:path h="2735960" w="4625975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498975" y="0"/>
                  </a:lnTo>
                  <a:cubicBezTo>
                    <a:pt x="4569079" y="0"/>
                    <a:pt x="4625975" y="56896"/>
                    <a:pt x="4625975" y="127000"/>
                  </a:cubicBezTo>
                  <a:lnTo>
                    <a:pt x="4625975" y="2608960"/>
                  </a:lnTo>
                  <a:cubicBezTo>
                    <a:pt x="4625975" y="2679064"/>
                    <a:pt x="4569079" y="2735960"/>
                    <a:pt x="4498975" y="2735960"/>
                  </a:cubicBezTo>
                  <a:lnTo>
                    <a:pt x="127000" y="2735960"/>
                  </a:lnTo>
                  <a:cubicBezTo>
                    <a:pt x="56896" y="2735960"/>
                    <a:pt x="0" y="2679064"/>
                    <a:pt x="0" y="2608960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61493" y="261493"/>
              <a:ext cx="468122" cy="468122"/>
            </a:xfrm>
            <a:custGeom>
              <a:avLst/>
              <a:gdLst/>
              <a:ahLst/>
              <a:cxnLst/>
              <a:rect r="r" b="b" t="t" l="l"/>
              <a:pathLst>
                <a:path h="468122" w="468122">
                  <a:moveTo>
                    <a:pt x="0" y="234061"/>
                  </a:moveTo>
                  <a:cubicBezTo>
                    <a:pt x="0" y="104902"/>
                    <a:pt x="104902" y="0"/>
                    <a:pt x="234061" y="0"/>
                  </a:cubicBezTo>
                  <a:cubicBezTo>
                    <a:pt x="363220" y="0"/>
                    <a:pt x="468122" y="104902"/>
                    <a:pt x="468122" y="234061"/>
                  </a:cubicBezTo>
                  <a:cubicBezTo>
                    <a:pt x="468122" y="363220"/>
                    <a:pt x="363220" y="468122"/>
                    <a:pt x="234061" y="468122"/>
                  </a:cubicBezTo>
                  <a:cubicBezTo>
                    <a:pt x="104902" y="468122"/>
                    <a:pt x="0" y="363220"/>
                    <a:pt x="0" y="234061"/>
                  </a:cubicBezTo>
                </a:path>
              </a:pathLst>
            </a:custGeom>
            <a:solidFill>
              <a:srgbClr val="5F5A7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26497" y="1167679"/>
            <a:ext cx="4753004" cy="2862996"/>
            <a:chOff x="0" y="0"/>
            <a:chExt cx="4753000" cy="28629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4625975" cy="2735960"/>
            </a:xfrm>
            <a:custGeom>
              <a:avLst/>
              <a:gdLst/>
              <a:ahLst/>
              <a:cxnLst/>
              <a:rect r="r" b="b" t="t" l="l"/>
              <a:pathLst>
                <a:path h="2735960" w="4625975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498975" y="0"/>
                  </a:lnTo>
                  <a:cubicBezTo>
                    <a:pt x="4569079" y="0"/>
                    <a:pt x="4625975" y="56896"/>
                    <a:pt x="4625975" y="127000"/>
                  </a:cubicBezTo>
                  <a:lnTo>
                    <a:pt x="4625975" y="2608960"/>
                  </a:lnTo>
                  <a:cubicBezTo>
                    <a:pt x="4625975" y="2679064"/>
                    <a:pt x="4569079" y="2735960"/>
                    <a:pt x="4498975" y="2735960"/>
                  </a:cubicBezTo>
                  <a:lnTo>
                    <a:pt x="127000" y="2735960"/>
                  </a:lnTo>
                  <a:cubicBezTo>
                    <a:pt x="56896" y="2735960"/>
                    <a:pt x="0" y="2679064"/>
                    <a:pt x="0" y="2608960"/>
                  </a:cubicBezTo>
                  <a:close/>
                </a:path>
              </a:pathLst>
            </a:custGeom>
            <a:solidFill>
              <a:srgbClr val="EBE4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1493" y="261493"/>
              <a:ext cx="468122" cy="468122"/>
            </a:xfrm>
            <a:custGeom>
              <a:avLst/>
              <a:gdLst/>
              <a:ahLst/>
              <a:cxnLst/>
              <a:rect r="r" b="b" t="t" l="l"/>
              <a:pathLst>
                <a:path h="468122" w="468122">
                  <a:moveTo>
                    <a:pt x="0" y="234061"/>
                  </a:moveTo>
                  <a:cubicBezTo>
                    <a:pt x="0" y="104902"/>
                    <a:pt x="104902" y="0"/>
                    <a:pt x="234061" y="0"/>
                  </a:cubicBezTo>
                  <a:cubicBezTo>
                    <a:pt x="363220" y="0"/>
                    <a:pt x="468122" y="104902"/>
                    <a:pt x="468122" y="234061"/>
                  </a:cubicBezTo>
                  <a:cubicBezTo>
                    <a:pt x="468122" y="363220"/>
                    <a:pt x="363220" y="468122"/>
                    <a:pt x="234061" y="468122"/>
                  </a:cubicBezTo>
                  <a:cubicBezTo>
                    <a:pt x="104902" y="468122"/>
                    <a:pt x="0" y="363220"/>
                    <a:pt x="0" y="234061"/>
                  </a:cubicBezTo>
                </a:path>
              </a:pathLst>
            </a:custGeom>
            <a:solidFill>
              <a:srgbClr val="7C4D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5996" y="322412"/>
            <a:ext cx="6544046" cy="5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¿Complemento o tecnología core?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26230" y="1516009"/>
            <a:ext cx="166811" cy="28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b="true" sz="1547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4002" y="2089709"/>
            <a:ext cx="1906829" cy="37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Complemento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1482" y="2414978"/>
            <a:ext cx="57417" cy="30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87997" y="2089709"/>
            <a:ext cx="2153736" cy="37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Tecnología core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25817" y="2414978"/>
            <a:ext cx="57417" cy="30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5278" y="2440095"/>
            <a:ext cx="116900" cy="77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63"/>
              </a:lnSpc>
            </a:pPr>
            <a:r>
              <a:rPr lang="en-US" b="true" sz="1599">
                <a:solidFill>
                  <a:srgbClr val="7C4DFF"/>
                </a:solidFill>
                <a:latin typeface="Arimo Bold"/>
                <a:ea typeface="Arimo Bold"/>
                <a:cs typeface="Arimo Bold"/>
                <a:sym typeface="Arimo Bold"/>
              </a:rPr>
              <a:t>● ● ●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69283" y="2440095"/>
            <a:ext cx="116900" cy="50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63"/>
              </a:lnSpc>
            </a:pPr>
            <a:r>
              <a:rPr lang="en-US" b="true" sz="1599">
                <a:solidFill>
                  <a:srgbClr val="7C4DFF"/>
                </a:solidFill>
                <a:latin typeface="Arimo Bold"/>
                <a:ea typeface="Arimo Bold"/>
                <a:cs typeface="Arimo Bold"/>
                <a:sym typeface="Arimo Bold"/>
              </a:rPr>
              <a:t>● ●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1486" y="2434028"/>
            <a:ext cx="3863816" cy="805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Pilotos ydemostraciones aisladas.</a:t>
            </a:r>
          </a:p>
          <a:p>
            <a:pPr algn="l">
              <a:lnSpc>
                <a:spcPts val="2063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Se usa de vez en cuando.</a:t>
            </a:r>
          </a:p>
          <a:p>
            <a:pPr algn="l">
              <a:lnSpc>
                <a:spcPts val="2063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Si se apaga, la operación sigue igual.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85481" y="2414978"/>
            <a:ext cx="3803294" cy="30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Forma partecentral de la operación.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985481" y="2667581"/>
            <a:ext cx="3384833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Se usa a escala y con resultados medibles.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69283" y="3220288"/>
            <a:ext cx="3511467" cy="34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7C4D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●</a:t>
            </a: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Sin ella, el proceso cambia o se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85481" y="3544767"/>
            <a:ext cx="835066" cy="30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detiene.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5996" y="4224871"/>
            <a:ext cx="9636538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b="true" sz="15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Pregunta guía: ¿qué espera cada enfoque de la industria para que la XR pase de la columna izquierda a la derecha?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62047" y="1528248"/>
            <a:ext cx="122301" cy="255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b="true" sz="1547" spc="-23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★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 7 · Ambientes Virtuales Inmersivos · 7NM78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45513" y="5563048"/>
            <a:ext cx="71895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5996" y="2869140"/>
            <a:ext cx="3035998" cy="1511998"/>
          </a:xfrm>
          <a:custGeom>
            <a:avLst/>
            <a:gdLst/>
            <a:ahLst/>
            <a:cxnLst/>
            <a:rect r="r" b="b" t="t" l="l"/>
            <a:pathLst>
              <a:path h="1511998" w="3035998">
                <a:moveTo>
                  <a:pt x="0" y="0"/>
                </a:moveTo>
                <a:lnTo>
                  <a:pt x="3035998" y="0"/>
                </a:lnTo>
                <a:lnTo>
                  <a:pt x="3035998" y="1511998"/>
                </a:lnTo>
                <a:lnTo>
                  <a:pt x="0" y="151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28002" y="2869140"/>
            <a:ext cx="3035999" cy="1511998"/>
          </a:xfrm>
          <a:custGeom>
            <a:avLst/>
            <a:gdLst/>
            <a:ahLst/>
            <a:cxnLst/>
            <a:rect r="r" b="b" t="t" l="l"/>
            <a:pathLst>
              <a:path h="1511998" w="3035999">
                <a:moveTo>
                  <a:pt x="0" y="0"/>
                </a:moveTo>
                <a:lnTo>
                  <a:pt x="3035999" y="0"/>
                </a:lnTo>
                <a:lnTo>
                  <a:pt x="3035999" y="1511998"/>
                </a:lnTo>
                <a:lnTo>
                  <a:pt x="0" y="151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75996" y="1822085"/>
            <a:ext cx="9540002" cy="396002"/>
          </a:xfrm>
          <a:custGeom>
            <a:avLst/>
            <a:gdLst/>
            <a:ahLst/>
            <a:cxnLst/>
            <a:rect r="r" b="b" t="t" l="l"/>
            <a:pathLst>
              <a:path h="396002" w="9540002">
                <a:moveTo>
                  <a:pt x="0" y="0"/>
                </a:moveTo>
                <a:lnTo>
                  <a:pt x="9540002" y="0"/>
                </a:lnTo>
                <a:lnTo>
                  <a:pt x="9540002" y="396002"/>
                </a:lnTo>
                <a:lnTo>
                  <a:pt x="0" y="3960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079999" y="2869140"/>
            <a:ext cx="3035999" cy="1511998"/>
          </a:xfrm>
          <a:custGeom>
            <a:avLst/>
            <a:gdLst/>
            <a:ahLst/>
            <a:cxnLst/>
            <a:rect r="r" b="b" t="t" l="l"/>
            <a:pathLst>
              <a:path h="1511998" w="3035999">
                <a:moveTo>
                  <a:pt x="0" y="0"/>
                </a:moveTo>
                <a:lnTo>
                  <a:pt x="3035999" y="0"/>
                </a:lnTo>
                <a:lnTo>
                  <a:pt x="3035999" y="1511998"/>
                </a:lnTo>
                <a:lnTo>
                  <a:pt x="0" y="15119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5996" y="322412"/>
            <a:ext cx="8293465" cy="1163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¿Qué es la Realidad Extendida?</a:t>
            </a:r>
          </a:p>
          <a:p>
            <a:pPr algn="l">
              <a:lnSpc>
                <a:spcPts val="2520"/>
              </a:lnSpc>
            </a:pPr>
            <a:r>
              <a:rPr lang="en-US" b="true" sz="1800" i="true" spc="1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El término XR agrupa las tecnologías del </a:t>
            </a:r>
            <a:r>
              <a:rPr lang="en-US" b="true" sz="1800" spc="1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continuo realidad-virtualidad</a:t>
            </a:r>
            <a:r>
              <a:rPr lang="en-US" b="true" sz="1800" i="true" spc="1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5996" y="2316813"/>
            <a:ext cx="1070362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i="true" spc="2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Entorno real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874957" y="2316813"/>
            <a:ext cx="1265863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i="true" spc="5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Entorno virtual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4002" y="2899677"/>
            <a:ext cx="2373887" cy="1381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b="true" sz="2199">
                <a:solidFill>
                  <a:srgbClr val="00A39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AR</a:t>
            </a:r>
          </a:p>
          <a:p>
            <a:pPr algn="l">
              <a:lnSpc>
                <a:spcPts val="2460"/>
              </a:lnSpc>
            </a:pP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Realidad Aumentada:</a:t>
            </a: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agrega objetos virtuales sobre el entorno real.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25998" y="2899677"/>
            <a:ext cx="2637177" cy="1381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b="true" sz="2199">
                <a:solidFill>
                  <a:srgbClr val="7C4D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MR</a:t>
            </a:r>
          </a:p>
          <a:p>
            <a:pPr algn="l">
              <a:lnSpc>
                <a:spcPts val="2460"/>
              </a:lnSpc>
            </a:pPr>
            <a:r>
              <a:rPr lang="en-US" b="true" sz="1500" spc="3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Realidad Mixta:</a:t>
            </a:r>
            <a:r>
              <a:rPr lang="en-US" b="true" sz="1500" i="true" spc="3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lo virtual se ancla al espacio físico y responde a él.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277995" y="2899677"/>
            <a:ext cx="2566254" cy="1381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7"/>
              </a:lnSpc>
            </a:pPr>
            <a:r>
              <a:rPr lang="en-US" b="true" sz="21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VR</a:t>
            </a:r>
          </a:p>
          <a:p>
            <a:pPr algn="l">
              <a:lnSpc>
                <a:spcPts val="2460"/>
              </a:lnSpc>
            </a:pP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Realidad Virtual:</a:t>
            </a: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sustituye por completo el entorno real.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5996" y="5348354"/>
            <a:ext cx="2334482" cy="20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Fuente: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8" action="ppaction://hlinksldjump"/>
              </a:rPr>
              <a:t>(Milgram &amp; Kishino, 1994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1612" y="5563048"/>
            <a:ext cx="35881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Equipo7 · AmbientesVirtualesInmersivos · 7NM78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045513" y="5563048"/>
            <a:ext cx="71895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5996" y="1231182"/>
            <a:ext cx="3035998" cy="2304002"/>
            <a:chOff x="0" y="0"/>
            <a:chExt cx="3035998" cy="2303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36060" cy="2304030"/>
            </a:xfrm>
            <a:custGeom>
              <a:avLst/>
              <a:gdLst/>
              <a:ahLst/>
              <a:cxnLst/>
              <a:rect r="r" b="b" t="t" l="l"/>
              <a:pathLst>
                <a:path h="2304030" w="303606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0" y="0"/>
                  </a:lnTo>
                  <a:cubicBezTo>
                    <a:pt x="2979164" y="0"/>
                    <a:pt x="3036060" y="56896"/>
                    <a:pt x="3036060" y="127000"/>
                  </a:cubicBezTo>
                  <a:lnTo>
                    <a:pt x="3036060" y="2177030"/>
                  </a:lnTo>
                  <a:cubicBezTo>
                    <a:pt x="3036060" y="2247134"/>
                    <a:pt x="2979164" y="2304030"/>
                    <a:pt x="2909060" y="2304030"/>
                  </a:cubicBezTo>
                  <a:lnTo>
                    <a:pt x="127000" y="2304030"/>
                  </a:lnTo>
                  <a:cubicBezTo>
                    <a:pt x="56896" y="2304030"/>
                    <a:pt x="0" y="2247134"/>
                    <a:pt x="0" y="2177030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828002" y="1231182"/>
            <a:ext cx="3035998" cy="2304002"/>
            <a:chOff x="0" y="0"/>
            <a:chExt cx="3035998" cy="23039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036061" cy="2304030"/>
            </a:xfrm>
            <a:custGeom>
              <a:avLst/>
              <a:gdLst/>
              <a:ahLst/>
              <a:cxnLst/>
              <a:rect r="r" b="b" t="t" l="l"/>
              <a:pathLst>
                <a:path h="2304030" w="303606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1" y="0"/>
                  </a:lnTo>
                  <a:cubicBezTo>
                    <a:pt x="2979165" y="0"/>
                    <a:pt x="3036061" y="56896"/>
                    <a:pt x="3036061" y="127000"/>
                  </a:cubicBezTo>
                  <a:lnTo>
                    <a:pt x="3036061" y="2177030"/>
                  </a:lnTo>
                  <a:cubicBezTo>
                    <a:pt x="3036061" y="2247134"/>
                    <a:pt x="2979165" y="2304030"/>
                    <a:pt x="2909061" y="2304030"/>
                  </a:cubicBezTo>
                  <a:lnTo>
                    <a:pt x="127000" y="2304030"/>
                  </a:lnTo>
                  <a:cubicBezTo>
                    <a:pt x="56896" y="2304030"/>
                    <a:pt x="0" y="2247134"/>
                    <a:pt x="0" y="2177030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079999" y="1231182"/>
            <a:ext cx="3035998" cy="2304002"/>
            <a:chOff x="0" y="0"/>
            <a:chExt cx="3035998" cy="23039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36060" cy="2304030"/>
            </a:xfrm>
            <a:custGeom>
              <a:avLst/>
              <a:gdLst/>
              <a:ahLst/>
              <a:cxnLst/>
              <a:rect r="r" b="b" t="t" l="l"/>
              <a:pathLst>
                <a:path h="2304030" w="303606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1" y="0"/>
                  </a:lnTo>
                  <a:cubicBezTo>
                    <a:pt x="2979165" y="0"/>
                    <a:pt x="3036060" y="56896"/>
                    <a:pt x="3036060" y="127000"/>
                  </a:cubicBezTo>
                  <a:lnTo>
                    <a:pt x="3036060" y="2177030"/>
                  </a:lnTo>
                  <a:cubicBezTo>
                    <a:pt x="3036060" y="2247134"/>
                    <a:pt x="2979165" y="2304030"/>
                    <a:pt x="2909061" y="2304030"/>
                  </a:cubicBezTo>
                  <a:lnTo>
                    <a:pt x="127000" y="2304030"/>
                  </a:lnTo>
                  <a:cubicBezTo>
                    <a:pt x="56896" y="2304030"/>
                    <a:pt x="0" y="2247134"/>
                    <a:pt x="0" y="2177030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5996" y="322412"/>
            <a:ext cx="7989456" cy="5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Todas las proyecciones crecen hacia 2030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4002" y="1208561"/>
            <a:ext cx="1587951" cy="814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b="true" sz="4400">
                <a:solidFill>
                  <a:srgbClr val="7C4D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299.3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67562" y="1921259"/>
            <a:ext cx="6004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25998" y="1208561"/>
            <a:ext cx="2722283" cy="102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b="true" sz="4400">
                <a:solidFill>
                  <a:srgbClr val="00A39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1.5</a:t>
            </a:r>
          </a:p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billones de USD</a:t>
            </a: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que la VR y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03354" y="2207009"/>
            <a:ext cx="5382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277995" y="1170461"/>
            <a:ext cx="2711596" cy="191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6"/>
              </a:lnSpc>
            </a:pPr>
            <a:r>
              <a:rPr lang="en-US" b="true" sz="4400">
                <a:solidFill>
                  <a:srgbClr val="E5484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27.3</a:t>
            </a:r>
            <a:r>
              <a:rPr lang="en-US" b="true" sz="44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</a:t>
            </a:r>
          </a:p>
          <a:p>
            <a:pPr algn="l">
              <a:lnSpc>
                <a:spcPts val="2235"/>
              </a:lnSpc>
            </a:pP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millonesde lentes inteligentes</a:t>
            </a: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alaño en 2030, desde13.6 millones en 2026.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74002" y="1921259"/>
            <a:ext cx="2315204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milmillones de USD</a:t>
            </a: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en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74002" y="2197484"/>
            <a:ext cx="2686726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softwareyservicios XR para 2030,desde 44.7 en 2024.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25998" y="2197484"/>
            <a:ext cx="2551871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laARpodrían sumar al PIB mundial; la mayor parte por AR.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5996" y="3803390"/>
            <a:ext cx="739777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Las cifras no se comparan entre sí: cada consultora mide un alcance distinto.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5996" y="5348354"/>
            <a:ext cx="3976297" cy="20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Fuentes: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(ABI Research, 2024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); (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PwC, 2019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);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(Ubrani, 2026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1612" y="5563048"/>
            <a:ext cx="35881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Equipo7 · AmbientesVirtualesInmersivos · 7NM78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45513" y="5563048"/>
            <a:ext cx="71895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2502" y="2073812"/>
            <a:ext cx="5635000" cy="2143001"/>
            <a:chOff x="0" y="0"/>
            <a:chExt cx="5635003" cy="2142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1384045"/>
              <a:ext cx="813054" cy="695451"/>
            </a:xfrm>
            <a:custGeom>
              <a:avLst/>
              <a:gdLst/>
              <a:ahLst/>
              <a:cxnLst/>
              <a:rect r="r" b="b" t="t" l="l"/>
              <a:pathLst>
                <a:path h="695451" w="813054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62254" y="0"/>
                  </a:lnTo>
                  <a:cubicBezTo>
                    <a:pt x="790321" y="0"/>
                    <a:pt x="813054" y="22733"/>
                    <a:pt x="813054" y="50800"/>
                  </a:cubicBezTo>
                  <a:lnTo>
                    <a:pt x="813054" y="695451"/>
                  </a:lnTo>
                  <a:lnTo>
                    <a:pt x="0" y="695451"/>
                  </a:lnTo>
                  <a:close/>
                </a:path>
              </a:pathLst>
            </a:custGeom>
            <a:solidFill>
              <a:srgbClr val="B9B3D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002539" y="1009014"/>
              <a:ext cx="813055" cy="1070482"/>
            </a:xfrm>
            <a:custGeom>
              <a:avLst/>
              <a:gdLst/>
              <a:ahLst/>
              <a:cxnLst/>
              <a:rect r="r" b="b" t="t" l="l"/>
              <a:pathLst>
                <a:path h="1070482" w="813055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62254" y="0"/>
                  </a:lnTo>
                  <a:cubicBezTo>
                    <a:pt x="790321" y="0"/>
                    <a:pt x="813054" y="22733"/>
                    <a:pt x="813054" y="50800"/>
                  </a:cubicBezTo>
                  <a:lnTo>
                    <a:pt x="813054" y="1070482"/>
                  </a:lnTo>
                  <a:lnTo>
                    <a:pt x="0" y="1070482"/>
                  </a:lnTo>
                  <a:close/>
                </a:path>
              </a:pathLst>
            </a:custGeom>
            <a:solidFill>
              <a:srgbClr val="B9B3D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941450" y="639190"/>
              <a:ext cx="813054" cy="1440306"/>
            </a:xfrm>
            <a:custGeom>
              <a:avLst/>
              <a:gdLst/>
              <a:ahLst/>
              <a:cxnLst/>
              <a:rect r="r" b="b" t="t" l="l"/>
              <a:pathLst>
                <a:path h="1440306" w="813054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62254" y="0"/>
                  </a:lnTo>
                  <a:cubicBezTo>
                    <a:pt x="790321" y="0"/>
                    <a:pt x="813054" y="22733"/>
                    <a:pt x="813054" y="50800"/>
                  </a:cubicBezTo>
                  <a:lnTo>
                    <a:pt x="813054" y="1440306"/>
                  </a:lnTo>
                  <a:lnTo>
                    <a:pt x="0" y="1440306"/>
                  </a:lnTo>
                  <a:close/>
                </a:path>
              </a:pathLst>
            </a:custGeom>
            <a:solidFill>
              <a:srgbClr val="B9B3D9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880488" y="386080"/>
              <a:ext cx="813054" cy="1693416"/>
            </a:xfrm>
            <a:custGeom>
              <a:avLst/>
              <a:gdLst/>
              <a:ahLst/>
              <a:cxnLst/>
              <a:rect r="r" b="b" t="t" l="l"/>
              <a:pathLst>
                <a:path h="1693416" w="813054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62255" y="0"/>
                  </a:lnTo>
                  <a:cubicBezTo>
                    <a:pt x="790322" y="0"/>
                    <a:pt x="813055" y="22733"/>
                    <a:pt x="813055" y="50800"/>
                  </a:cubicBezTo>
                  <a:lnTo>
                    <a:pt x="813055" y="1693416"/>
                  </a:lnTo>
                  <a:lnTo>
                    <a:pt x="0" y="1693416"/>
                  </a:lnTo>
                  <a:close/>
                </a:path>
              </a:pathLst>
            </a:custGeom>
            <a:solidFill>
              <a:srgbClr val="B9B3D9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3819527" y="217932"/>
              <a:ext cx="813054" cy="1861564"/>
            </a:xfrm>
            <a:custGeom>
              <a:avLst/>
              <a:gdLst/>
              <a:ahLst/>
              <a:cxnLst/>
              <a:rect r="r" b="b" t="t" l="l"/>
              <a:pathLst>
                <a:path h="1861564" w="813054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62254" y="0"/>
                  </a:lnTo>
                  <a:cubicBezTo>
                    <a:pt x="790321" y="0"/>
                    <a:pt x="813054" y="22733"/>
                    <a:pt x="813054" y="50800"/>
                  </a:cubicBezTo>
                  <a:lnTo>
                    <a:pt x="813054" y="1861564"/>
                  </a:lnTo>
                  <a:lnTo>
                    <a:pt x="0" y="1861564"/>
                  </a:lnTo>
                  <a:close/>
                </a:path>
              </a:pathLst>
            </a:custGeom>
            <a:solidFill>
              <a:srgbClr val="B9B3D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758565" y="63500"/>
              <a:ext cx="812928" cy="2015996"/>
            </a:xfrm>
            <a:custGeom>
              <a:avLst/>
              <a:gdLst/>
              <a:ahLst/>
              <a:cxnLst/>
              <a:rect r="r" b="b" t="t" l="l"/>
              <a:pathLst>
                <a:path h="2015996" w="812928">
                  <a:moveTo>
                    <a:pt x="0" y="50800"/>
                  </a:moveTo>
                  <a:cubicBezTo>
                    <a:pt x="0" y="22733"/>
                    <a:pt x="22733" y="0"/>
                    <a:pt x="50800" y="0"/>
                  </a:cubicBezTo>
                  <a:lnTo>
                    <a:pt x="762128" y="0"/>
                  </a:lnTo>
                  <a:cubicBezTo>
                    <a:pt x="790195" y="0"/>
                    <a:pt x="812928" y="22733"/>
                    <a:pt x="812928" y="50800"/>
                  </a:cubicBezTo>
                  <a:lnTo>
                    <a:pt x="812928" y="2015996"/>
                  </a:lnTo>
                  <a:lnTo>
                    <a:pt x="0" y="2015996"/>
                  </a:lnTo>
                  <a:close/>
                </a:path>
              </a:pathLst>
            </a:custGeom>
            <a:solidFill>
              <a:srgbClr val="E5484D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443996" y="1231182"/>
            <a:ext cx="3672002" cy="1843221"/>
            <a:chOff x="0" y="0"/>
            <a:chExt cx="3672002" cy="18432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71953" cy="1843281"/>
            </a:xfrm>
            <a:custGeom>
              <a:avLst/>
              <a:gdLst/>
              <a:ahLst/>
              <a:cxnLst/>
              <a:rect r="r" b="b" t="t" l="l"/>
              <a:pathLst>
                <a:path h="1843281" w="3671953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544953" y="0"/>
                  </a:lnTo>
                  <a:cubicBezTo>
                    <a:pt x="3615057" y="0"/>
                    <a:pt x="3671953" y="56896"/>
                    <a:pt x="3671953" y="127000"/>
                  </a:cubicBezTo>
                  <a:lnTo>
                    <a:pt x="3671953" y="1716281"/>
                  </a:lnTo>
                  <a:cubicBezTo>
                    <a:pt x="3671953" y="1786385"/>
                    <a:pt x="3615057" y="1843281"/>
                    <a:pt x="3544953" y="1843281"/>
                  </a:cubicBezTo>
                  <a:lnTo>
                    <a:pt x="127000" y="1843281"/>
                  </a:lnTo>
                  <a:cubicBezTo>
                    <a:pt x="56896" y="1843281"/>
                    <a:pt x="0" y="1786385"/>
                    <a:pt x="0" y="1716281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43996" y="3280143"/>
            <a:ext cx="3672002" cy="1843221"/>
            <a:chOff x="0" y="0"/>
            <a:chExt cx="3672002" cy="18432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71953" cy="1843281"/>
            </a:xfrm>
            <a:custGeom>
              <a:avLst/>
              <a:gdLst/>
              <a:ahLst/>
              <a:cxnLst/>
              <a:rect r="r" b="b" t="t" l="l"/>
              <a:pathLst>
                <a:path h="1843281" w="3671953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544953" y="0"/>
                  </a:lnTo>
                  <a:cubicBezTo>
                    <a:pt x="3615057" y="0"/>
                    <a:pt x="3671953" y="56896"/>
                    <a:pt x="3671953" y="127000"/>
                  </a:cubicBezTo>
                  <a:lnTo>
                    <a:pt x="3671953" y="1716281"/>
                  </a:lnTo>
                  <a:cubicBezTo>
                    <a:pt x="3671953" y="1786385"/>
                    <a:pt x="3615057" y="1843281"/>
                    <a:pt x="3544953" y="1843281"/>
                  </a:cubicBezTo>
                  <a:lnTo>
                    <a:pt x="127000" y="1843281"/>
                  </a:lnTo>
                  <a:cubicBezTo>
                    <a:pt x="56896" y="1843281"/>
                    <a:pt x="0" y="1786385"/>
                    <a:pt x="0" y="1716281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75996" y="303362"/>
            <a:ext cx="8422176" cy="1428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1"/>
              </a:lnSpc>
            </a:pPr>
            <a:r>
              <a:rPr lang="en-US" b="true" sz="27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La inversión va por delante de las ganancias</a:t>
            </a:r>
          </a:p>
          <a:p>
            <a:pPr algn="l">
              <a:lnSpc>
                <a:spcPts val="2235"/>
              </a:lnSpc>
            </a:pPr>
            <a:r>
              <a:rPr lang="en-US" b="true" sz="15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Pérdida operativa anual de Meta Reality Labs (miles de </a:t>
            </a:r>
          </a:p>
          <a:p>
            <a:pPr algn="l">
              <a:lnSpc>
                <a:spcPts val="2235"/>
              </a:lnSpc>
            </a:pPr>
            <a:r>
              <a:rPr lang="en-US" b="true" sz="15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millones de USD)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9765" y="3217478"/>
            <a:ext cx="393182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6.62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73828" y="2842431"/>
            <a:ext cx="505254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10.19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612822" y="2472642"/>
            <a:ext cx="505254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13.71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51825" y="2219458"/>
            <a:ext cx="505254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16.12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490828" y="2051371"/>
            <a:ext cx="505254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17.72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29821" y="1896942"/>
            <a:ext cx="505254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19.19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42002" y="4183409"/>
            <a:ext cx="2796692" cy="80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b="true" sz="1400" i="true" spc="1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lentes inteligentes en el primer trimestre de 2026; los visores VR pierden terreno.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42002" y="2134448"/>
            <a:ext cx="3103359" cy="80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lentes Ray-Ban y Oakley con Meta vendidos en 2025, el triple que en 2024.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99243" y="4083282"/>
            <a:ext cx="373856" cy="24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2020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38236" y="4083282"/>
            <a:ext cx="373856" cy="24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2021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77239" y="4083282"/>
            <a:ext cx="373856" cy="24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2022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16242" y="4083282"/>
            <a:ext cx="373856" cy="24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2023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55236" y="4083282"/>
            <a:ext cx="373856" cy="24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2024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94239" y="4083282"/>
            <a:ext cx="373856" cy="24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2025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42002" y="1246080"/>
            <a:ext cx="859003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7C4D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7 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42002" y="3295040"/>
            <a:ext cx="168863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>
                <a:solidFill>
                  <a:srgbClr val="00A39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+167 %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75996" y="5348354"/>
            <a:ext cx="4105256" cy="20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Fuentes: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(Auganix, 2026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); (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Road to VR, 2026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);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(Ubrani, 2026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1612" y="5563048"/>
            <a:ext cx="35881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Equipo7 · AmbientesVirtualesInmersivos · 7NM78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45513" y="5563048"/>
            <a:ext cx="71895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2502" y="1275683"/>
            <a:ext cx="3162995" cy="1350997"/>
            <a:chOff x="0" y="0"/>
            <a:chExt cx="3162998" cy="1351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3036060" cy="1224026"/>
            </a:xfrm>
            <a:custGeom>
              <a:avLst/>
              <a:gdLst/>
              <a:ahLst/>
              <a:cxnLst/>
              <a:rect r="r" b="b" t="t" l="l"/>
              <a:pathLst>
                <a:path h="1224026" w="303606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0" y="0"/>
                  </a:lnTo>
                  <a:cubicBezTo>
                    <a:pt x="2979164" y="0"/>
                    <a:pt x="3036060" y="56896"/>
                    <a:pt x="3036060" y="127000"/>
                  </a:cubicBezTo>
                  <a:lnTo>
                    <a:pt x="3036060" y="1097026"/>
                  </a:lnTo>
                  <a:cubicBezTo>
                    <a:pt x="3036060" y="1167130"/>
                    <a:pt x="2979164" y="1224026"/>
                    <a:pt x="2909060" y="1224026"/>
                  </a:cubicBezTo>
                  <a:lnTo>
                    <a:pt x="127000" y="1224026"/>
                  </a:lnTo>
                  <a:cubicBezTo>
                    <a:pt x="56896" y="1224026"/>
                    <a:pt x="0" y="1167130"/>
                    <a:pt x="0" y="1097026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61493" y="261493"/>
              <a:ext cx="468122" cy="468122"/>
            </a:xfrm>
            <a:custGeom>
              <a:avLst/>
              <a:gdLst/>
              <a:ahLst/>
              <a:cxnLst/>
              <a:rect r="r" b="b" t="t" l="l"/>
              <a:pathLst>
                <a:path h="468122" w="468122">
                  <a:moveTo>
                    <a:pt x="0" y="234061"/>
                  </a:moveTo>
                  <a:cubicBezTo>
                    <a:pt x="0" y="104902"/>
                    <a:pt x="104902" y="0"/>
                    <a:pt x="234061" y="0"/>
                  </a:cubicBezTo>
                  <a:cubicBezTo>
                    <a:pt x="363220" y="0"/>
                    <a:pt x="468122" y="104902"/>
                    <a:pt x="468122" y="234061"/>
                  </a:cubicBezTo>
                  <a:cubicBezTo>
                    <a:pt x="468122" y="363220"/>
                    <a:pt x="363220" y="468122"/>
                    <a:pt x="234061" y="468122"/>
                  </a:cubicBezTo>
                  <a:cubicBezTo>
                    <a:pt x="104902" y="468122"/>
                    <a:pt x="0" y="363220"/>
                    <a:pt x="0" y="234061"/>
                  </a:cubicBezTo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502" y="2715682"/>
            <a:ext cx="3162995" cy="1350997"/>
            <a:chOff x="0" y="0"/>
            <a:chExt cx="3162998" cy="13510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3036060" cy="1224027"/>
            </a:xfrm>
            <a:custGeom>
              <a:avLst/>
              <a:gdLst/>
              <a:ahLst/>
              <a:cxnLst/>
              <a:rect r="r" b="b" t="t" l="l"/>
              <a:pathLst>
                <a:path h="1224027" w="303606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0" y="0"/>
                  </a:lnTo>
                  <a:cubicBezTo>
                    <a:pt x="2979164" y="0"/>
                    <a:pt x="3036060" y="56896"/>
                    <a:pt x="3036060" y="127000"/>
                  </a:cubicBezTo>
                  <a:lnTo>
                    <a:pt x="3036060" y="1097027"/>
                  </a:lnTo>
                  <a:cubicBezTo>
                    <a:pt x="3036060" y="1167131"/>
                    <a:pt x="2979164" y="1224027"/>
                    <a:pt x="2909060" y="1224027"/>
                  </a:cubicBezTo>
                  <a:lnTo>
                    <a:pt x="127000" y="1224027"/>
                  </a:lnTo>
                  <a:cubicBezTo>
                    <a:pt x="56896" y="1224027"/>
                    <a:pt x="0" y="1167131"/>
                    <a:pt x="0" y="1097027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1493" y="261493"/>
              <a:ext cx="468122" cy="468122"/>
            </a:xfrm>
            <a:custGeom>
              <a:avLst/>
              <a:gdLst/>
              <a:ahLst/>
              <a:cxnLst/>
              <a:rect r="r" b="b" t="t" l="l"/>
              <a:pathLst>
                <a:path h="468122" w="468122">
                  <a:moveTo>
                    <a:pt x="0" y="234061"/>
                  </a:moveTo>
                  <a:cubicBezTo>
                    <a:pt x="0" y="104902"/>
                    <a:pt x="104902" y="0"/>
                    <a:pt x="234061" y="0"/>
                  </a:cubicBezTo>
                  <a:cubicBezTo>
                    <a:pt x="363220" y="0"/>
                    <a:pt x="468122" y="104902"/>
                    <a:pt x="468122" y="234061"/>
                  </a:cubicBezTo>
                  <a:cubicBezTo>
                    <a:pt x="468122" y="363220"/>
                    <a:pt x="363220" y="468122"/>
                    <a:pt x="234061" y="468122"/>
                  </a:cubicBezTo>
                  <a:cubicBezTo>
                    <a:pt x="104902" y="468122"/>
                    <a:pt x="0" y="363220"/>
                    <a:pt x="0" y="234061"/>
                  </a:cubicBezTo>
                </a:path>
              </a:pathLst>
            </a:custGeom>
            <a:solidFill>
              <a:srgbClr val="00A39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764499" y="1275683"/>
            <a:ext cx="3162995" cy="1350997"/>
            <a:chOff x="0" y="0"/>
            <a:chExt cx="3162998" cy="13510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3036061" cy="1224026"/>
            </a:xfrm>
            <a:custGeom>
              <a:avLst/>
              <a:gdLst/>
              <a:ahLst/>
              <a:cxnLst/>
              <a:rect r="r" b="b" t="t" l="l"/>
              <a:pathLst>
                <a:path h="1224026" w="303606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1" y="0"/>
                  </a:lnTo>
                  <a:cubicBezTo>
                    <a:pt x="2979165" y="0"/>
                    <a:pt x="3036061" y="56896"/>
                    <a:pt x="3036061" y="127000"/>
                  </a:cubicBezTo>
                  <a:lnTo>
                    <a:pt x="3036061" y="1097026"/>
                  </a:lnTo>
                  <a:cubicBezTo>
                    <a:pt x="3036061" y="1167130"/>
                    <a:pt x="2979165" y="1224026"/>
                    <a:pt x="2909061" y="1224026"/>
                  </a:cubicBezTo>
                  <a:lnTo>
                    <a:pt x="127000" y="1224026"/>
                  </a:lnTo>
                  <a:cubicBezTo>
                    <a:pt x="56896" y="1224026"/>
                    <a:pt x="0" y="1167130"/>
                    <a:pt x="0" y="1097026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61493" y="261493"/>
              <a:ext cx="468122" cy="468122"/>
            </a:xfrm>
            <a:custGeom>
              <a:avLst/>
              <a:gdLst/>
              <a:ahLst/>
              <a:cxnLst/>
              <a:rect r="r" b="b" t="t" l="l"/>
              <a:pathLst>
                <a:path h="468122" w="468122">
                  <a:moveTo>
                    <a:pt x="0" y="234061"/>
                  </a:moveTo>
                  <a:cubicBezTo>
                    <a:pt x="0" y="104902"/>
                    <a:pt x="104902" y="0"/>
                    <a:pt x="234061" y="0"/>
                  </a:cubicBezTo>
                  <a:cubicBezTo>
                    <a:pt x="363220" y="0"/>
                    <a:pt x="468122" y="104902"/>
                    <a:pt x="468122" y="234061"/>
                  </a:cubicBezTo>
                  <a:cubicBezTo>
                    <a:pt x="468122" y="363220"/>
                    <a:pt x="363220" y="468122"/>
                    <a:pt x="234061" y="468122"/>
                  </a:cubicBezTo>
                  <a:cubicBezTo>
                    <a:pt x="104902" y="468122"/>
                    <a:pt x="0" y="363220"/>
                    <a:pt x="0" y="234061"/>
                  </a:cubicBezTo>
                </a:path>
              </a:pathLst>
            </a:custGeom>
            <a:solidFill>
              <a:srgbClr val="E5484D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764499" y="2715682"/>
            <a:ext cx="3162995" cy="1350997"/>
            <a:chOff x="0" y="0"/>
            <a:chExt cx="3162998" cy="13510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3036061" cy="1224027"/>
            </a:xfrm>
            <a:custGeom>
              <a:avLst/>
              <a:gdLst/>
              <a:ahLst/>
              <a:cxnLst/>
              <a:rect r="r" b="b" t="t" l="l"/>
              <a:pathLst>
                <a:path h="1224027" w="303606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1" y="0"/>
                  </a:lnTo>
                  <a:cubicBezTo>
                    <a:pt x="2979165" y="0"/>
                    <a:pt x="3036061" y="56896"/>
                    <a:pt x="3036061" y="127000"/>
                  </a:cubicBezTo>
                  <a:lnTo>
                    <a:pt x="3036061" y="1097027"/>
                  </a:lnTo>
                  <a:cubicBezTo>
                    <a:pt x="3036061" y="1167131"/>
                    <a:pt x="2979165" y="1224027"/>
                    <a:pt x="2909061" y="1224027"/>
                  </a:cubicBezTo>
                  <a:lnTo>
                    <a:pt x="127000" y="1224027"/>
                  </a:lnTo>
                  <a:cubicBezTo>
                    <a:pt x="56896" y="1224027"/>
                    <a:pt x="0" y="1167131"/>
                    <a:pt x="0" y="1097027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61493" y="261493"/>
              <a:ext cx="468122" cy="468122"/>
            </a:xfrm>
            <a:custGeom>
              <a:avLst/>
              <a:gdLst/>
              <a:ahLst/>
              <a:cxnLst/>
              <a:rect r="r" b="b" t="t" l="l"/>
              <a:pathLst>
                <a:path h="468122" w="468122">
                  <a:moveTo>
                    <a:pt x="0" y="234061"/>
                  </a:moveTo>
                  <a:cubicBezTo>
                    <a:pt x="0" y="104902"/>
                    <a:pt x="104902" y="0"/>
                    <a:pt x="234061" y="0"/>
                  </a:cubicBezTo>
                  <a:cubicBezTo>
                    <a:pt x="363220" y="0"/>
                    <a:pt x="468122" y="104902"/>
                    <a:pt x="468122" y="234061"/>
                  </a:cubicBezTo>
                  <a:cubicBezTo>
                    <a:pt x="468122" y="363220"/>
                    <a:pt x="363220" y="468122"/>
                    <a:pt x="234061" y="468122"/>
                  </a:cubicBezTo>
                  <a:cubicBezTo>
                    <a:pt x="104902" y="468122"/>
                    <a:pt x="0" y="363220"/>
                    <a:pt x="0" y="234061"/>
                  </a:cubicBezTo>
                </a:path>
              </a:pathLst>
            </a:custGeom>
            <a:solidFill>
              <a:srgbClr val="5F5A7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016496" y="1275683"/>
            <a:ext cx="3162995" cy="1350997"/>
            <a:chOff x="0" y="0"/>
            <a:chExt cx="3162998" cy="13510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3036061" cy="1224026"/>
            </a:xfrm>
            <a:custGeom>
              <a:avLst/>
              <a:gdLst/>
              <a:ahLst/>
              <a:cxnLst/>
              <a:rect r="r" b="b" t="t" l="l"/>
              <a:pathLst>
                <a:path h="1224026" w="303606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1" y="0"/>
                  </a:lnTo>
                  <a:cubicBezTo>
                    <a:pt x="2979165" y="0"/>
                    <a:pt x="3036061" y="56896"/>
                    <a:pt x="3036061" y="127000"/>
                  </a:cubicBezTo>
                  <a:lnTo>
                    <a:pt x="3036061" y="1097026"/>
                  </a:lnTo>
                  <a:cubicBezTo>
                    <a:pt x="3036061" y="1167130"/>
                    <a:pt x="2979165" y="1224026"/>
                    <a:pt x="2909061" y="1224026"/>
                  </a:cubicBezTo>
                  <a:lnTo>
                    <a:pt x="127000" y="1224026"/>
                  </a:lnTo>
                  <a:cubicBezTo>
                    <a:pt x="56896" y="1224026"/>
                    <a:pt x="0" y="1167130"/>
                    <a:pt x="0" y="1097026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61493" y="261493"/>
              <a:ext cx="468122" cy="468122"/>
            </a:xfrm>
            <a:custGeom>
              <a:avLst/>
              <a:gdLst/>
              <a:ahLst/>
              <a:cxnLst/>
              <a:rect r="r" b="b" t="t" l="l"/>
              <a:pathLst>
                <a:path h="468122" w="468122">
                  <a:moveTo>
                    <a:pt x="0" y="234061"/>
                  </a:moveTo>
                  <a:cubicBezTo>
                    <a:pt x="0" y="104902"/>
                    <a:pt x="104902" y="0"/>
                    <a:pt x="234061" y="0"/>
                  </a:cubicBezTo>
                  <a:cubicBezTo>
                    <a:pt x="363220" y="0"/>
                    <a:pt x="468122" y="104902"/>
                    <a:pt x="468122" y="234061"/>
                  </a:cubicBezTo>
                  <a:cubicBezTo>
                    <a:pt x="468122" y="363220"/>
                    <a:pt x="363220" y="468122"/>
                    <a:pt x="234061" y="468122"/>
                  </a:cubicBezTo>
                  <a:cubicBezTo>
                    <a:pt x="104902" y="468122"/>
                    <a:pt x="0" y="363220"/>
                    <a:pt x="0" y="234061"/>
                  </a:cubicBezTo>
                </a:path>
              </a:pathLst>
            </a:custGeom>
            <a:solidFill>
              <a:srgbClr val="E8930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016496" y="2715682"/>
            <a:ext cx="3162995" cy="1350997"/>
            <a:chOff x="0" y="0"/>
            <a:chExt cx="3162998" cy="13510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3036061" cy="1224027"/>
            </a:xfrm>
            <a:custGeom>
              <a:avLst/>
              <a:gdLst/>
              <a:ahLst/>
              <a:cxnLst/>
              <a:rect r="r" b="b" t="t" l="l"/>
              <a:pathLst>
                <a:path h="1224027" w="303606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1" y="0"/>
                  </a:lnTo>
                  <a:cubicBezTo>
                    <a:pt x="2979165" y="0"/>
                    <a:pt x="3036061" y="56896"/>
                    <a:pt x="3036061" y="127000"/>
                  </a:cubicBezTo>
                  <a:lnTo>
                    <a:pt x="3036061" y="1097027"/>
                  </a:lnTo>
                  <a:cubicBezTo>
                    <a:pt x="3036061" y="1167131"/>
                    <a:pt x="2979165" y="1224027"/>
                    <a:pt x="2909061" y="1224027"/>
                  </a:cubicBezTo>
                  <a:lnTo>
                    <a:pt x="127000" y="1224027"/>
                  </a:lnTo>
                  <a:cubicBezTo>
                    <a:pt x="56896" y="1224027"/>
                    <a:pt x="0" y="1167131"/>
                    <a:pt x="0" y="1097027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61493" y="261493"/>
              <a:ext cx="468122" cy="468122"/>
            </a:xfrm>
            <a:custGeom>
              <a:avLst/>
              <a:gdLst/>
              <a:ahLst/>
              <a:cxnLst/>
              <a:rect r="r" b="b" t="t" l="l"/>
              <a:pathLst>
                <a:path h="468122" w="468122">
                  <a:moveTo>
                    <a:pt x="0" y="234061"/>
                  </a:moveTo>
                  <a:cubicBezTo>
                    <a:pt x="0" y="104902"/>
                    <a:pt x="104902" y="0"/>
                    <a:pt x="234061" y="0"/>
                  </a:cubicBezTo>
                  <a:cubicBezTo>
                    <a:pt x="363220" y="0"/>
                    <a:pt x="468122" y="104902"/>
                    <a:pt x="468122" y="234061"/>
                  </a:cubicBezTo>
                  <a:cubicBezTo>
                    <a:pt x="468122" y="363220"/>
                    <a:pt x="363220" y="468122"/>
                    <a:pt x="234061" y="468122"/>
                  </a:cubicBezTo>
                  <a:cubicBezTo>
                    <a:pt x="104902" y="468122"/>
                    <a:pt x="0" y="363220"/>
                    <a:pt x="0" y="234061"/>
                  </a:cubicBezTo>
                </a:path>
              </a:pathLst>
            </a:custGeom>
            <a:solidFill>
              <a:srgbClr val="1A143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75996" y="322412"/>
            <a:ext cx="6014857" cy="5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Seis enfoques, seis expectativas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7261" y="1624012"/>
            <a:ext cx="123901" cy="28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b="true" sz="1547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7261" y="3064012"/>
            <a:ext cx="123901" cy="28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b="true" sz="1547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99268" y="1624012"/>
            <a:ext cx="123901" cy="28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b="true" sz="1547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99268" y="3064012"/>
            <a:ext cx="123901" cy="28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b="true" sz="1547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51265" y="1624012"/>
            <a:ext cx="123901" cy="28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b="true" sz="1547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51265" y="3064012"/>
            <a:ext cx="123901" cy="28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b="true" sz="1547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74002" y="3654923"/>
            <a:ext cx="712537" cy="35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Salud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4002" y="2214924"/>
            <a:ext cx="1484386" cy="35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Académico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025998" y="2214924"/>
            <a:ext cx="1328337" cy="35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Comercial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025998" y="3654923"/>
            <a:ext cx="2500151" cy="35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1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Gobierno y defensa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77995" y="2214924"/>
            <a:ext cx="1180424" cy="3536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 spc="3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Industrial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77995" y="3635873"/>
            <a:ext cx="1844716" cy="73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b="true" sz="1899" spc="3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Capacitación cor</a:t>
            </a:r>
            <a:r>
              <a:rPr lang="en-US" b="true" sz="1899" spc="3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</a:t>
            </a:r>
            <a:r>
              <a:rPr lang="en-US" b="true" sz="1899" spc="3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porativa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 7 · Ambientes Virtuales Inmersivos · 7NM78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045513" y="5563048"/>
            <a:ext cx="71895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5996" y="468001"/>
            <a:ext cx="396002" cy="396002"/>
            <a:chOff x="0" y="0"/>
            <a:chExt cx="395999" cy="395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985" cy="395985"/>
            </a:xfrm>
            <a:custGeom>
              <a:avLst/>
              <a:gdLst/>
              <a:ahLst/>
              <a:cxnLst/>
              <a:rect r="r" b="b" t="t" l="l"/>
              <a:pathLst>
                <a:path h="395985" w="395985">
                  <a:moveTo>
                    <a:pt x="0" y="197992"/>
                  </a:moveTo>
                  <a:cubicBezTo>
                    <a:pt x="0" y="88773"/>
                    <a:pt x="88773" y="0"/>
                    <a:pt x="197992" y="0"/>
                  </a:cubicBezTo>
                  <a:cubicBezTo>
                    <a:pt x="307212" y="0"/>
                    <a:pt x="395985" y="88773"/>
                    <a:pt x="395985" y="197992"/>
                  </a:cubicBezTo>
                  <a:cubicBezTo>
                    <a:pt x="395985" y="307212"/>
                    <a:pt x="307212" y="395985"/>
                    <a:pt x="197992" y="395985"/>
                  </a:cubicBezTo>
                  <a:cubicBezTo>
                    <a:pt x="88773" y="395985"/>
                    <a:pt x="0" y="307212"/>
                    <a:pt x="0" y="197992"/>
                  </a:cubicBezTo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30151" y="3059544"/>
            <a:ext cx="5213071" cy="415271"/>
            <a:chOff x="0" y="0"/>
            <a:chExt cx="5213071" cy="41527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9850" y="69851"/>
              <a:ext cx="1099184" cy="275594"/>
            </a:xfrm>
            <a:custGeom>
              <a:avLst/>
              <a:gdLst/>
              <a:ahLst/>
              <a:cxnLst/>
              <a:rect r="r" b="b" t="t" l="l"/>
              <a:pathLst>
                <a:path h="275594" w="1099184">
                  <a:moveTo>
                    <a:pt x="0" y="137797"/>
                  </a:moveTo>
                  <a:cubicBezTo>
                    <a:pt x="0" y="61723"/>
                    <a:pt x="61722" y="0"/>
                    <a:pt x="137795" y="0"/>
                  </a:cubicBezTo>
                  <a:lnTo>
                    <a:pt x="961390" y="0"/>
                  </a:lnTo>
                  <a:cubicBezTo>
                    <a:pt x="1037463" y="0"/>
                    <a:pt x="1099184" y="61723"/>
                    <a:pt x="1099184" y="137797"/>
                  </a:cubicBezTo>
                  <a:cubicBezTo>
                    <a:pt x="1099184" y="213871"/>
                    <a:pt x="1037590" y="275593"/>
                    <a:pt x="961390" y="275593"/>
                  </a:cubicBezTo>
                  <a:lnTo>
                    <a:pt x="137795" y="275593"/>
                  </a:lnTo>
                  <a:cubicBezTo>
                    <a:pt x="61722" y="275593"/>
                    <a:pt x="0" y="213871"/>
                    <a:pt x="0" y="137797"/>
                  </a:cubicBezTo>
                  <a:close/>
                </a:path>
              </a:pathLst>
            </a:custGeom>
            <a:solidFill>
              <a:srgbClr val="EBE4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1"/>
              <a:ext cx="1111884" cy="288294"/>
            </a:xfrm>
            <a:custGeom>
              <a:avLst/>
              <a:gdLst/>
              <a:ahLst/>
              <a:cxnLst/>
              <a:rect r="r" b="b" t="t" l="l"/>
              <a:pathLst>
                <a:path h="288294" w="1111884">
                  <a:moveTo>
                    <a:pt x="144145" y="0"/>
                  </a:moveTo>
                  <a:lnTo>
                    <a:pt x="967740" y="0"/>
                  </a:lnTo>
                  <a:lnTo>
                    <a:pt x="967740" y="6350"/>
                  </a:lnTo>
                  <a:lnTo>
                    <a:pt x="967740" y="0"/>
                  </a:lnTo>
                  <a:cubicBezTo>
                    <a:pt x="1047369" y="0"/>
                    <a:pt x="1111884" y="64517"/>
                    <a:pt x="1111884" y="144147"/>
                  </a:cubicBezTo>
                  <a:lnTo>
                    <a:pt x="1105534" y="144147"/>
                  </a:lnTo>
                  <a:lnTo>
                    <a:pt x="1111884" y="144147"/>
                  </a:lnTo>
                  <a:cubicBezTo>
                    <a:pt x="1111884" y="223777"/>
                    <a:pt x="1047369" y="288294"/>
                    <a:pt x="967740" y="288294"/>
                  </a:cubicBezTo>
                  <a:lnTo>
                    <a:pt x="967740" y="281943"/>
                  </a:lnTo>
                  <a:lnTo>
                    <a:pt x="967740" y="288294"/>
                  </a:lnTo>
                  <a:lnTo>
                    <a:pt x="144145" y="288294"/>
                  </a:lnTo>
                  <a:lnTo>
                    <a:pt x="144145" y="281943"/>
                  </a:lnTo>
                  <a:lnTo>
                    <a:pt x="144145" y="288294"/>
                  </a:lnTo>
                  <a:cubicBezTo>
                    <a:pt x="64516" y="288294"/>
                    <a:pt x="0" y="223777"/>
                    <a:pt x="0" y="144147"/>
                  </a:cubicBezTo>
                  <a:lnTo>
                    <a:pt x="6350" y="144147"/>
                  </a:lnTo>
                  <a:lnTo>
                    <a:pt x="0" y="144147"/>
                  </a:lnTo>
                  <a:cubicBezTo>
                    <a:pt x="0" y="64517"/>
                    <a:pt x="64516" y="0"/>
                    <a:pt x="144145" y="0"/>
                  </a:cubicBezTo>
                  <a:lnTo>
                    <a:pt x="144145" y="12700"/>
                  </a:lnTo>
                  <a:cubicBezTo>
                    <a:pt x="71501" y="12700"/>
                    <a:pt x="12700" y="71502"/>
                    <a:pt x="12700" y="144147"/>
                  </a:cubicBezTo>
                  <a:cubicBezTo>
                    <a:pt x="12700" y="216792"/>
                    <a:pt x="71501" y="275593"/>
                    <a:pt x="144145" y="275593"/>
                  </a:cubicBezTo>
                  <a:lnTo>
                    <a:pt x="967740" y="275593"/>
                  </a:lnTo>
                  <a:cubicBezTo>
                    <a:pt x="1040384" y="275593"/>
                    <a:pt x="1099184" y="216792"/>
                    <a:pt x="1099184" y="144147"/>
                  </a:cubicBezTo>
                  <a:cubicBezTo>
                    <a:pt x="1099184" y="71502"/>
                    <a:pt x="1040384" y="12700"/>
                    <a:pt x="967740" y="12700"/>
                  </a:cubicBezTo>
                  <a:lnTo>
                    <a:pt x="144145" y="12700"/>
                  </a:lnTo>
                  <a:close/>
                </a:path>
              </a:pathLst>
            </a:custGeom>
            <a:solidFill>
              <a:srgbClr val="7C4D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04417" y="69851"/>
              <a:ext cx="999617" cy="275594"/>
            </a:xfrm>
            <a:custGeom>
              <a:avLst/>
              <a:gdLst/>
              <a:ahLst/>
              <a:cxnLst/>
              <a:rect r="r" b="b" t="t" l="l"/>
              <a:pathLst>
                <a:path h="275594" w="999617">
                  <a:moveTo>
                    <a:pt x="0" y="137797"/>
                  </a:moveTo>
                  <a:cubicBezTo>
                    <a:pt x="0" y="61723"/>
                    <a:pt x="61722" y="0"/>
                    <a:pt x="137794" y="0"/>
                  </a:cubicBezTo>
                  <a:lnTo>
                    <a:pt x="861821" y="0"/>
                  </a:lnTo>
                  <a:cubicBezTo>
                    <a:pt x="937894" y="0"/>
                    <a:pt x="999616" y="61723"/>
                    <a:pt x="999616" y="137797"/>
                  </a:cubicBezTo>
                  <a:cubicBezTo>
                    <a:pt x="999616" y="213871"/>
                    <a:pt x="937894" y="275593"/>
                    <a:pt x="861821" y="275593"/>
                  </a:cubicBezTo>
                  <a:lnTo>
                    <a:pt x="137794" y="275593"/>
                  </a:lnTo>
                  <a:cubicBezTo>
                    <a:pt x="61722" y="275593"/>
                    <a:pt x="0" y="213871"/>
                    <a:pt x="0" y="137797"/>
                  </a:cubicBezTo>
                  <a:close/>
                </a:path>
              </a:pathLst>
            </a:custGeom>
            <a:solidFill>
              <a:srgbClr val="EBE4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298067" y="63501"/>
              <a:ext cx="1012317" cy="288294"/>
            </a:xfrm>
            <a:custGeom>
              <a:avLst/>
              <a:gdLst/>
              <a:ahLst/>
              <a:cxnLst/>
              <a:rect r="r" b="b" t="t" l="l"/>
              <a:pathLst>
                <a:path h="288294" w="1012317">
                  <a:moveTo>
                    <a:pt x="144144" y="0"/>
                  </a:moveTo>
                  <a:lnTo>
                    <a:pt x="868171" y="0"/>
                  </a:lnTo>
                  <a:lnTo>
                    <a:pt x="868171" y="6350"/>
                  </a:lnTo>
                  <a:lnTo>
                    <a:pt x="868171" y="0"/>
                  </a:lnTo>
                  <a:cubicBezTo>
                    <a:pt x="947800" y="0"/>
                    <a:pt x="1012316" y="64517"/>
                    <a:pt x="1012316" y="144147"/>
                  </a:cubicBezTo>
                  <a:lnTo>
                    <a:pt x="1005966" y="144147"/>
                  </a:lnTo>
                  <a:lnTo>
                    <a:pt x="1012316" y="144147"/>
                  </a:lnTo>
                  <a:cubicBezTo>
                    <a:pt x="1012316" y="223777"/>
                    <a:pt x="947800" y="288294"/>
                    <a:pt x="868171" y="288294"/>
                  </a:cubicBezTo>
                  <a:lnTo>
                    <a:pt x="868171" y="281943"/>
                  </a:lnTo>
                  <a:lnTo>
                    <a:pt x="868171" y="288294"/>
                  </a:lnTo>
                  <a:lnTo>
                    <a:pt x="144144" y="288294"/>
                  </a:lnTo>
                  <a:lnTo>
                    <a:pt x="144144" y="281943"/>
                  </a:lnTo>
                  <a:lnTo>
                    <a:pt x="144144" y="288294"/>
                  </a:lnTo>
                  <a:cubicBezTo>
                    <a:pt x="64516" y="288294"/>
                    <a:pt x="0" y="223777"/>
                    <a:pt x="0" y="144147"/>
                  </a:cubicBezTo>
                  <a:lnTo>
                    <a:pt x="6350" y="144147"/>
                  </a:lnTo>
                  <a:lnTo>
                    <a:pt x="0" y="144147"/>
                  </a:lnTo>
                  <a:cubicBezTo>
                    <a:pt x="0" y="64517"/>
                    <a:pt x="64516" y="0"/>
                    <a:pt x="144144" y="0"/>
                  </a:cubicBezTo>
                  <a:lnTo>
                    <a:pt x="144144" y="12700"/>
                  </a:lnTo>
                  <a:cubicBezTo>
                    <a:pt x="71500" y="12700"/>
                    <a:pt x="12700" y="71502"/>
                    <a:pt x="12700" y="144147"/>
                  </a:cubicBezTo>
                  <a:cubicBezTo>
                    <a:pt x="12700" y="216792"/>
                    <a:pt x="71500" y="275593"/>
                    <a:pt x="144144" y="275593"/>
                  </a:cubicBezTo>
                  <a:lnTo>
                    <a:pt x="868171" y="275593"/>
                  </a:lnTo>
                  <a:cubicBezTo>
                    <a:pt x="940815" y="275593"/>
                    <a:pt x="999616" y="216792"/>
                    <a:pt x="999616" y="144147"/>
                  </a:cubicBezTo>
                  <a:cubicBezTo>
                    <a:pt x="999616" y="71502"/>
                    <a:pt x="940815" y="12700"/>
                    <a:pt x="868171" y="12700"/>
                  </a:cubicBezTo>
                  <a:lnTo>
                    <a:pt x="144144" y="12700"/>
                  </a:lnTo>
                  <a:close/>
                </a:path>
              </a:pathLst>
            </a:custGeom>
            <a:solidFill>
              <a:srgbClr val="7C4D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439288" y="69851"/>
              <a:ext cx="2703956" cy="275594"/>
            </a:xfrm>
            <a:custGeom>
              <a:avLst/>
              <a:gdLst/>
              <a:ahLst/>
              <a:cxnLst/>
              <a:rect r="r" b="b" t="t" l="l"/>
              <a:pathLst>
                <a:path h="275594" w="2703956">
                  <a:moveTo>
                    <a:pt x="127" y="137797"/>
                  </a:moveTo>
                  <a:cubicBezTo>
                    <a:pt x="127" y="61723"/>
                    <a:pt x="61849" y="0"/>
                    <a:pt x="137922" y="0"/>
                  </a:cubicBezTo>
                  <a:lnTo>
                    <a:pt x="2566161" y="0"/>
                  </a:lnTo>
                  <a:cubicBezTo>
                    <a:pt x="2642234" y="0"/>
                    <a:pt x="2703956" y="61723"/>
                    <a:pt x="2703956" y="137797"/>
                  </a:cubicBezTo>
                  <a:cubicBezTo>
                    <a:pt x="2703956" y="213871"/>
                    <a:pt x="2642234" y="275593"/>
                    <a:pt x="2566161" y="275593"/>
                  </a:cubicBezTo>
                  <a:lnTo>
                    <a:pt x="137795" y="275593"/>
                  </a:lnTo>
                  <a:cubicBezTo>
                    <a:pt x="61722" y="275593"/>
                    <a:pt x="0" y="213871"/>
                    <a:pt x="0" y="137797"/>
                  </a:cubicBezTo>
                  <a:close/>
                </a:path>
              </a:pathLst>
            </a:custGeom>
            <a:solidFill>
              <a:srgbClr val="E7E6E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432938" y="63501"/>
              <a:ext cx="2716529" cy="288294"/>
            </a:xfrm>
            <a:custGeom>
              <a:avLst/>
              <a:gdLst/>
              <a:ahLst/>
              <a:cxnLst/>
              <a:rect r="r" b="b" t="t" l="l"/>
              <a:pathLst>
                <a:path h="288294" w="2716529">
                  <a:moveTo>
                    <a:pt x="144145" y="0"/>
                  </a:moveTo>
                  <a:lnTo>
                    <a:pt x="2572384" y="0"/>
                  </a:lnTo>
                  <a:lnTo>
                    <a:pt x="2572384" y="6350"/>
                  </a:lnTo>
                  <a:lnTo>
                    <a:pt x="2572384" y="0"/>
                  </a:lnTo>
                  <a:cubicBezTo>
                    <a:pt x="2652013" y="0"/>
                    <a:pt x="2716529" y="64517"/>
                    <a:pt x="2716529" y="144147"/>
                  </a:cubicBezTo>
                  <a:lnTo>
                    <a:pt x="2710179" y="144147"/>
                  </a:lnTo>
                  <a:lnTo>
                    <a:pt x="2716529" y="144147"/>
                  </a:lnTo>
                  <a:cubicBezTo>
                    <a:pt x="2716529" y="223777"/>
                    <a:pt x="2652013" y="288294"/>
                    <a:pt x="2572384" y="288294"/>
                  </a:cubicBezTo>
                  <a:lnTo>
                    <a:pt x="2572384" y="281943"/>
                  </a:lnTo>
                  <a:lnTo>
                    <a:pt x="2572384" y="288294"/>
                  </a:lnTo>
                  <a:lnTo>
                    <a:pt x="144145" y="288294"/>
                  </a:lnTo>
                  <a:lnTo>
                    <a:pt x="144145" y="281943"/>
                  </a:lnTo>
                  <a:lnTo>
                    <a:pt x="144145" y="288294"/>
                  </a:lnTo>
                  <a:cubicBezTo>
                    <a:pt x="64516" y="288294"/>
                    <a:pt x="0" y="223777"/>
                    <a:pt x="0" y="144147"/>
                  </a:cubicBezTo>
                  <a:lnTo>
                    <a:pt x="6350" y="144147"/>
                  </a:lnTo>
                  <a:lnTo>
                    <a:pt x="0" y="144147"/>
                  </a:lnTo>
                  <a:cubicBezTo>
                    <a:pt x="0" y="64517"/>
                    <a:pt x="64516" y="0"/>
                    <a:pt x="144145" y="0"/>
                  </a:cubicBezTo>
                  <a:lnTo>
                    <a:pt x="144145" y="12700"/>
                  </a:lnTo>
                  <a:cubicBezTo>
                    <a:pt x="71501" y="12700"/>
                    <a:pt x="12700" y="71502"/>
                    <a:pt x="12700" y="144147"/>
                  </a:cubicBezTo>
                  <a:cubicBezTo>
                    <a:pt x="12700" y="216792"/>
                    <a:pt x="71501" y="275593"/>
                    <a:pt x="144145" y="275593"/>
                  </a:cubicBezTo>
                  <a:lnTo>
                    <a:pt x="2572384" y="275593"/>
                  </a:lnTo>
                  <a:cubicBezTo>
                    <a:pt x="2645028" y="275593"/>
                    <a:pt x="2703829" y="216792"/>
                    <a:pt x="2703829" y="144147"/>
                  </a:cubicBezTo>
                  <a:cubicBezTo>
                    <a:pt x="2703829" y="71502"/>
                    <a:pt x="2645028" y="12700"/>
                    <a:pt x="2572511" y="12700"/>
                  </a:cubicBezTo>
                  <a:lnTo>
                    <a:pt x="144145" y="12700"/>
                  </a:lnTo>
                  <a:close/>
                </a:path>
              </a:pathLst>
            </a:custGeom>
            <a:solidFill>
              <a:srgbClr val="5F5A73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415202" y="1249737"/>
            <a:ext cx="3700796" cy="2376002"/>
            <a:chOff x="0" y="0"/>
            <a:chExt cx="3700805" cy="237600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00786" cy="2376048"/>
            </a:xfrm>
            <a:custGeom>
              <a:avLst/>
              <a:gdLst/>
              <a:ahLst/>
              <a:cxnLst/>
              <a:rect r="r" b="b" t="t" l="l"/>
              <a:pathLst>
                <a:path h="2376048" w="3700786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573785" y="0"/>
                  </a:lnTo>
                  <a:cubicBezTo>
                    <a:pt x="3643890" y="0"/>
                    <a:pt x="3700786" y="56896"/>
                    <a:pt x="3700786" y="127000"/>
                  </a:cubicBezTo>
                  <a:lnTo>
                    <a:pt x="3700786" y="2249048"/>
                  </a:lnTo>
                  <a:cubicBezTo>
                    <a:pt x="3700786" y="2319152"/>
                    <a:pt x="3643890" y="2376048"/>
                    <a:pt x="3573785" y="2376048"/>
                  </a:cubicBezTo>
                  <a:lnTo>
                    <a:pt x="127000" y="2376048"/>
                  </a:lnTo>
                  <a:cubicBezTo>
                    <a:pt x="56896" y="2376048"/>
                    <a:pt x="0" y="2319152"/>
                    <a:pt x="0" y="2249048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22605" y="532676"/>
            <a:ext cx="104842" cy="24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"/>
              </a:lnSpc>
            </a:pPr>
            <a:r>
              <a:rPr lang="en-US" b="true" sz="130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5997" y="388839"/>
            <a:ext cx="3771843" cy="5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Enfoque académico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0666" y="3461423"/>
            <a:ext cx="5309092" cy="689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b="true" sz="18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EDUCAUSEla ve conalto potencial, pero entre las más costosas porequipo y contenido.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5996" y="1143895"/>
            <a:ext cx="5535968" cy="1032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b="true" sz="18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Expectativa:</a:t>
            </a:r>
            <a:r>
              <a:rPr lang="en-US" b="true" sz="18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practicar lo que en el aula solo se explica: anatomía, máquinas peligrosas, sitios his</a:t>
            </a:r>
            <a:r>
              <a:rPr lang="en-US" b="true" sz="18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8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tór</a:t>
            </a:r>
            <a:r>
              <a:rPr lang="en-US" b="true" sz="18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8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icos</a:t>
            </a:r>
            <a:r>
              <a:rPr lang="en-US" b="true" sz="18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8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7436" y="2259406"/>
            <a:ext cx="5593566" cy="38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7C4D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●</a:t>
            </a:r>
            <a:r>
              <a:rPr lang="en-US" b="true" sz="18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El modeloCAMIL explica cuándo la inmersión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0666" y="2624452"/>
            <a:ext cx="2197646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ayuda aaprender: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7436" y="3475396"/>
            <a:ext cx="131512" cy="30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7C4DFF"/>
                </a:solidFill>
                <a:latin typeface="Arimo Bold"/>
                <a:ea typeface="Arimo Bold"/>
                <a:cs typeface="Arimo Bold"/>
                <a:sym typeface="Arimo Bold"/>
              </a:rPr>
              <a:t>●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6004" y="3130372"/>
            <a:ext cx="864165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i="true">
                <a:solidFill>
                  <a:srgbClr val="5736B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Presencia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60540" y="3130372"/>
            <a:ext cx="762600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i="true">
                <a:solidFill>
                  <a:srgbClr val="5736B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Agencia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395510" y="3130372"/>
            <a:ext cx="2500903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i="true">
                <a:solidFill>
                  <a:srgbClr val="433F51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Carga cognitiva controlada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13198" y="1189015"/>
            <a:ext cx="3219326" cy="191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6"/>
              </a:lnSpc>
            </a:pPr>
            <a:r>
              <a:rPr lang="en-US" b="true" sz="4400">
                <a:solidFill>
                  <a:srgbClr val="7C4D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18</a:t>
            </a:r>
            <a:r>
              <a:rPr lang="en-US" b="true" sz="44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</a:t>
            </a:r>
          </a:p>
          <a:p>
            <a:pPr algn="l">
              <a:lnSpc>
                <a:spcPts val="2235"/>
              </a:lnSpc>
            </a:pP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áreasde aplicación</a:t>
            </a: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de la VR en educación superior. Aun así, la mayoría de estudios mide usabilidad, no aprendizaje.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5996" y="5348354"/>
            <a:ext cx="5595023" cy="20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Fuentes: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(Radianti et al., 2020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);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(Makransky &amp; Petersen, 2021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);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(Brown et al., 2020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11612" y="5563048"/>
            <a:ext cx="35881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Equipo7 · AmbientesVirtualesInmersivos · 7NM78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045513" y="5563048"/>
            <a:ext cx="71895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5996" y="2109254"/>
            <a:ext cx="3035998" cy="2304002"/>
            <a:chOff x="0" y="0"/>
            <a:chExt cx="3035998" cy="2303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36060" cy="2304030"/>
            </a:xfrm>
            <a:custGeom>
              <a:avLst/>
              <a:gdLst/>
              <a:ahLst/>
              <a:cxnLst/>
              <a:rect r="r" b="b" t="t" l="l"/>
              <a:pathLst>
                <a:path h="2304030" w="303606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0" y="0"/>
                  </a:lnTo>
                  <a:cubicBezTo>
                    <a:pt x="2979164" y="0"/>
                    <a:pt x="3036060" y="56896"/>
                    <a:pt x="3036060" y="127000"/>
                  </a:cubicBezTo>
                  <a:lnTo>
                    <a:pt x="3036060" y="2177030"/>
                  </a:lnTo>
                  <a:cubicBezTo>
                    <a:pt x="3036060" y="2247134"/>
                    <a:pt x="2979164" y="2304030"/>
                    <a:pt x="2909060" y="2304030"/>
                  </a:cubicBezTo>
                  <a:lnTo>
                    <a:pt x="127000" y="2304030"/>
                  </a:lnTo>
                  <a:cubicBezTo>
                    <a:pt x="56896" y="2304030"/>
                    <a:pt x="0" y="2247134"/>
                    <a:pt x="0" y="2177030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5996" y="468001"/>
            <a:ext cx="396002" cy="396002"/>
            <a:chOff x="0" y="0"/>
            <a:chExt cx="395999" cy="3959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5985" cy="395985"/>
            </a:xfrm>
            <a:custGeom>
              <a:avLst/>
              <a:gdLst/>
              <a:ahLst/>
              <a:cxnLst/>
              <a:rect r="r" b="b" t="t" l="l"/>
              <a:pathLst>
                <a:path h="395985" w="395985">
                  <a:moveTo>
                    <a:pt x="0" y="197992"/>
                  </a:moveTo>
                  <a:cubicBezTo>
                    <a:pt x="0" y="88773"/>
                    <a:pt x="88773" y="0"/>
                    <a:pt x="197992" y="0"/>
                  </a:cubicBezTo>
                  <a:cubicBezTo>
                    <a:pt x="307212" y="0"/>
                    <a:pt x="395985" y="88773"/>
                    <a:pt x="395985" y="197992"/>
                  </a:cubicBezTo>
                  <a:cubicBezTo>
                    <a:pt x="395985" y="307212"/>
                    <a:pt x="307212" y="395985"/>
                    <a:pt x="197992" y="395985"/>
                  </a:cubicBezTo>
                  <a:cubicBezTo>
                    <a:pt x="88773" y="395985"/>
                    <a:pt x="0" y="307212"/>
                    <a:pt x="0" y="197992"/>
                  </a:cubicBezTo>
                </a:path>
              </a:pathLst>
            </a:custGeom>
            <a:solidFill>
              <a:srgbClr val="E5484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828002" y="2109254"/>
            <a:ext cx="3035998" cy="2304002"/>
            <a:chOff x="0" y="0"/>
            <a:chExt cx="3035998" cy="230399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36061" cy="2304030"/>
            </a:xfrm>
            <a:custGeom>
              <a:avLst/>
              <a:gdLst/>
              <a:ahLst/>
              <a:cxnLst/>
              <a:rect r="r" b="b" t="t" l="l"/>
              <a:pathLst>
                <a:path h="2304030" w="303606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1" y="0"/>
                  </a:lnTo>
                  <a:cubicBezTo>
                    <a:pt x="2979165" y="0"/>
                    <a:pt x="3036061" y="56896"/>
                    <a:pt x="3036061" y="127000"/>
                  </a:cubicBezTo>
                  <a:lnTo>
                    <a:pt x="3036061" y="2177030"/>
                  </a:lnTo>
                  <a:cubicBezTo>
                    <a:pt x="3036061" y="2247134"/>
                    <a:pt x="2979165" y="2304030"/>
                    <a:pt x="2909061" y="2304030"/>
                  </a:cubicBezTo>
                  <a:lnTo>
                    <a:pt x="127000" y="2304030"/>
                  </a:lnTo>
                  <a:cubicBezTo>
                    <a:pt x="56896" y="2304030"/>
                    <a:pt x="0" y="2247134"/>
                    <a:pt x="0" y="2177030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79999" y="2109254"/>
            <a:ext cx="3035998" cy="2304002"/>
            <a:chOff x="0" y="0"/>
            <a:chExt cx="3035998" cy="23039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36060" cy="2304030"/>
            </a:xfrm>
            <a:custGeom>
              <a:avLst/>
              <a:gdLst/>
              <a:ahLst/>
              <a:cxnLst/>
              <a:rect r="r" b="b" t="t" l="l"/>
              <a:pathLst>
                <a:path h="2304030" w="303606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1" y="0"/>
                  </a:lnTo>
                  <a:cubicBezTo>
                    <a:pt x="2979165" y="0"/>
                    <a:pt x="3036060" y="56896"/>
                    <a:pt x="3036060" y="127000"/>
                  </a:cubicBezTo>
                  <a:lnTo>
                    <a:pt x="3036060" y="2177030"/>
                  </a:lnTo>
                  <a:cubicBezTo>
                    <a:pt x="3036060" y="2247134"/>
                    <a:pt x="2979165" y="2304030"/>
                    <a:pt x="2909061" y="2304030"/>
                  </a:cubicBezTo>
                  <a:lnTo>
                    <a:pt x="127000" y="2304030"/>
                  </a:lnTo>
                  <a:cubicBezTo>
                    <a:pt x="56896" y="2304030"/>
                    <a:pt x="0" y="2247134"/>
                    <a:pt x="0" y="2177030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22605" y="532676"/>
            <a:ext cx="104842" cy="24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"/>
              </a:lnSpc>
            </a:pPr>
            <a:r>
              <a:rPr lang="en-US" b="true" sz="130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5997" y="388839"/>
            <a:ext cx="3496180" cy="5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Enfoque comercial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5996" y="1143895"/>
            <a:ext cx="9429474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b="true" sz="18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Expectativa:</a:t>
            </a:r>
            <a:r>
              <a:rPr lang="en-US" b="true" sz="18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cambiar la forma de comprar y de entretenerse, con dispositivos de uso diario.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4002" y="2086632"/>
            <a:ext cx="2564311" cy="102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b="true" sz="4400">
                <a:solidFill>
                  <a:srgbClr val="E5484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 de 4</a:t>
            </a:r>
          </a:p>
          <a:p>
            <a:pPr algn="l">
              <a:lnSpc>
                <a:spcPts val="2100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encuestados creen que la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7460" y="3085081"/>
            <a:ext cx="5382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25998" y="2086632"/>
            <a:ext cx="2668848" cy="1027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b="true" sz="4400">
                <a:solidFill>
                  <a:srgbClr val="E5484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7 M</a:t>
            </a:r>
          </a:p>
          <a:p>
            <a:pPr algn="l">
              <a:lnSpc>
                <a:spcPts val="2100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lentes inteligentes vendidos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67171" y="3085081"/>
            <a:ext cx="5382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77995" y="2086632"/>
            <a:ext cx="1587951" cy="814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b="true" sz="4400">
                <a:solidFill>
                  <a:srgbClr val="E5484D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169.4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71556" y="2799331"/>
            <a:ext cx="6004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74002" y="3075556"/>
            <a:ext cx="2381079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ARpesará másen sus compras en cinco años: probar productos y ver muebles en casa.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025998" y="3075556"/>
            <a:ext cx="2657380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en2025: la apuesta se mueve del visora los lentes.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277995" y="2799331"/>
            <a:ext cx="1961559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milmillones de USD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77995" y="3075556"/>
            <a:ext cx="2421884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esperados en software y serviciosXR de consumo para 2030.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5996" y="5348354"/>
            <a:ext cx="5026904" cy="20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Fuentes: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(Marketing Dive, 2021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); (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Road to VR, 2026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);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(ABI Research, 2024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1612" y="5563048"/>
            <a:ext cx="35881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Equipo7 · AmbientesVirtualesInmersivos · 7NM78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45513" y="5563048"/>
            <a:ext cx="71895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5996" y="1249737"/>
            <a:ext cx="3854996" cy="2664000"/>
            <a:chOff x="0" y="0"/>
            <a:chExt cx="3854996" cy="2664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54954" cy="2663955"/>
            </a:xfrm>
            <a:custGeom>
              <a:avLst/>
              <a:gdLst/>
              <a:ahLst/>
              <a:cxnLst/>
              <a:rect r="r" b="b" t="t" l="l"/>
              <a:pathLst>
                <a:path h="2663955" w="385495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727954" y="0"/>
                  </a:lnTo>
                  <a:cubicBezTo>
                    <a:pt x="3798058" y="0"/>
                    <a:pt x="3854954" y="56896"/>
                    <a:pt x="3854954" y="127000"/>
                  </a:cubicBezTo>
                  <a:lnTo>
                    <a:pt x="3854954" y="2536955"/>
                  </a:lnTo>
                  <a:cubicBezTo>
                    <a:pt x="3854954" y="2607059"/>
                    <a:pt x="3798058" y="2663955"/>
                    <a:pt x="3727954" y="2663955"/>
                  </a:cubicBezTo>
                  <a:lnTo>
                    <a:pt x="127000" y="2663955"/>
                  </a:lnTo>
                  <a:cubicBezTo>
                    <a:pt x="56896" y="2663955"/>
                    <a:pt x="0" y="2607059"/>
                    <a:pt x="0" y="2536955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5996" y="468001"/>
            <a:ext cx="396002" cy="396002"/>
            <a:chOff x="0" y="0"/>
            <a:chExt cx="395999" cy="3959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5985" cy="395985"/>
            </a:xfrm>
            <a:custGeom>
              <a:avLst/>
              <a:gdLst/>
              <a:ahLst/>
              <a:cxnLst/>
              <a:rect r="r" b="b" t="t" l="l"/>
              <a:pathLst>
                <a:path h="395985" w="395985">
                  <a:moveTo>
                    <a:pt x="0" y="197992"/>
                  </a:moveTo>
                  <a:cubicBezTo>
                    <a:pt x="0" y="88773"/>
                    <a:pt x="88773" y="0"/>
                    <a:pt x="197992" y="0"/>
                  </a:cubicBezTo>
                  <a:cubicBezTo>
                    <a:pt x="307212" y="0"/>
                    <a:pt x="395985" y="88773"/>
                    <a:pt x="395985" y="197992"/>
                  </a:cubicBezTo>
                  <a:cubicBezTo>
                    <a:pt x="395985" y="307212"/>
                    <a:pt x="307212" y="395985"/>
                    <a:pt x="197992" y="395985"/>
                  </a:cubicBezTo>
                  <a:cubicBezTo>
                    <a:pt x="88773" y="395985"/>
                    <a:pt x="0" y="307212"/>
                    <a:pt x="0" y="197992"/>
                  </a:cubicBezTo>
                </a:path>
              </a:pathLst>
            </a:custGeom>
            <a:solidFill>
              <a:srgbClr val="E8930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718999" y="3269885"/>
            <a:ext cx="5396998" cy="1247546"/>
            <a:chOff x="0" y="0"/>
            <a:chExt cx="5397005" cy="124754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6997" cy="1247516"/>
            </a:xfrm>
            <a:custGeom>
              <a:avLst/>
              <a:gdLst/>
              <a:ahLst/>
              <a:cxnLst/>
              <a:rect r="r" b="b" t="t" l="l"/>
              <a:pathLst>
                <a:path h="1247516" w="5396997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5269997" y="0"/>
                  </a:lnTo>
                  <a:cubicBezTo>
                    <a:pt x="5340101" y="0"/>
                    <a:pt x="5396997" y="56896"/>
                    <a:pt x="5396997" y="127000"/>
                  </a:cubicBezTo>
                  <a:lnTo>
                    <a:pt x="5396997" y="1120517"/>
                  </a:lnTo>
                  <a:cubicBezTo>
                    <a:pt x="5396997" y="1190621"/>
                    <a:pt x="5340101" y="1247516"/>
                    <a:pt x="5269997" y="1247516"/>
                  </a:cubicBezTo>
                  <a:lnTo>
                    <a:pt x="127000" y="1247516"/>
                  </a:lnTo>
                  <a:cubicBezTo>
                    <a:pt x="56896" y="1247516"/>
                    <a:pt x="0" y="1190621"/>
                    <a:pt x="0" y="1120517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49153" y="2003412"/>
            <a:ext cx="4365612" cy="415271"/>
            <a:chOff x="0" y="0"/>
            <a:chExt cx="4365612" cy="4152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9850" y="69851"/>
              <a:ext cx="1822704" cy="275594"/>
            </a:xfrm>
            <a:custGeom>
              <a:avLst/>
              <a:gdLst/>
              <a:ahLst/>
              <a:cxnLst/>
              <a:rect r="r" b="b" t="t" l="l"/>
              <a:pathLst>
                <a:path h="275594" w="1822704">
                  <a:moveTo>
                    <a:pt x="0" y="137797"/>
                  </a:moveTo>
                  <a:cubicBezTo>
                    <a:pt x="0" y="61723"/>
                    <a:pt x="61722" y="0"/>
                    <a:pt x="137795" y="0"/>
                  </a:cubicBezTo>
                  <a:lnTo>
                    <a:pt x="1684909" y="0"/>
                  </a:lnTo>
                  <a:cubicBezTo>
                    <a:pt x="1760982" y="0"/>
                    <a:pt x="1822704" y="61723"/>
                    <a:pt x="1822704" y="137797"/>
                  </a:cubicBezTo>
                  <a:cubicBezTo>
                    <a:pt x="1822704" y="213871"/>
                    <a:pt x="1760982" y="275593"/>
                    <a:pt x="1684909" y="275593"/>
                  </a:cubicBezTo>
                  <a:lnTo>
                    <a:pt x="137795" y="275593"/>
                  </a:lnTo>
                  <a:cubicBezTo>
                    <a:pt x="61722" y="275593"/>
                    <a:pt x="0" y="213871"/>
                    <a:pt x="0" y="137797"/>
                  </a:cubicBezTo>
                  <a:close/>
                </a:path>
              </a:pathLst>
            </a:custGeom>
            <a:solidFill>
              <a:srgbClr val="FCEFD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63500" y="63501"/>
              <a:ext cx="1835404" cy="288294"/>
            </a:xfrm>
            <a:custGeom>
              <a:avLst/>
              <a:gdLst/>
              <a:ahLst/>
              <a:cxnLst/>
              <a:rect r="r" b="b" t="t" l="l"/>
              <a:pathLst>
                <a:path h="288294" w="1835404">
                  <a:moveTo>
                    <a:pt x="144145" y="0"/>
                  </a:moveTo>
                  <a:lnTo>
                    <a:pt x="1691259" y="0"/>
                  </a:lnTo>
                  <a:lnTo>
                    <a:pt x="1691259" y="6350"/>
                  </a:lnTo>
                  <a:lnTo>
                    <a:pt x="1691259" y="0"/>
                  </a:lnTo>
                  <a:cubicBezTo>
                    <a:pt x="1770888" y="0"/>
                    <a:pt x="1835404" y="64517"/>
                    <a:pt x="1835404" y="144147"/>
                  </a:cubicBezTo>
                  <a:lnTo>
                    <a:pt x="1829054" y="144147"/>
                  </a:lnTo>
                  <a:lnTo>
                    <a:pt x="1835404" y="144147"/>
                  </a:lnTo>
                  <a:cubicBezTo>
                    <a:pt x="1835404" y="223777"/>
                    <a:pt x="1770888" y="288294"/>
                    <a:pt x="1691259" y="288294"/>
                  </a:cubicBezTo>
                  <a:lnTo>
                    <a:pt x="1691259" y="281943"/>
                  </a:lnTo>
                  <a:lnTo>
                    <a:pt x="1691259" y="288294"/>
                  </a:lnTo>
                  <a:lnTo>
                    <a:pt x="144145" y="288294"/>
                  </a:lnTo>
                  <a:lnTo>
                    <a:pt x="144145" y="281943"/>
                  </a:lnTo>
                  <a:lnTo>
                    <a:pt x="144145" y="288294"/>
                  </a:lnTo>
                  <a:cubicBezTo>
                    <a:pt x="64516" y="288294"/>
                    <a:pt x="0" y="223777"/>
                    <a:pt x="0" y="144147"/>
                  </a:cubicBezTo>
                  <a:lnTo>
                    <a:pt x="6350" y="144147"/>
                  </a:lnTo>
                  <a:lnTo>
                    <a:pt x="0" y="144147"/>
                  </a:lnTo>
                  <a:cubicBezTo>
                    <a:pt x="0" y="64517"/>
                    <a:pt x="64516" y="0"/>
                    <a:pt x="144145" y="0"/>
                  </a:cubicBezTo>
                  <a:lnTo>
                    <a:pt x="144145" y="12700"/>
                  </a:lnTo>
                  <a:cubicBezTo>
                    <a:pt x="71501" y="12700"/>
                    <a:pt x="12700" y="71502"/>
                    <a:pt x="12700" y="144147"/>
                  </a:cubicBezTo>
                  <a:cubicBezTo>
                    <a:pt x="12700" y="216792"/>
                    <a:pt x="71501" y="275593"/>
                    <a:pt x="144145" y="275593"/>
                  </a:cubicBezTo>
                  <a:lnTo>
                    <a:pt x="1691259" y="275593"/>
                  </a:lnTo>
                  <a:cubicBezTo>
                    <a:pt x="1763903" y="275593"/>
                    <a:pt x="1822704" y="216792"/>
                    <a:pt x="1822704" y="144147"/>
                  </a:cubicBezTo>
                  <a:cubicBezTo>
                    <a:pt x="1822704" y="71502"/>
                    <a:pt x="1763776" y="12700"/>
                    <a:pt x="1691259" y="12700"/>
                  </a:cubicBezTo>
                  <a:lnTo>
                    <a:pt x="144145" y="12700"/>
                  </a:lnTo>
                  <a:close/>
                </a:path>
              </a:pathLst>
            </a:custGeom>
            <a:solidFill>
              <a:srgbClr val="E8930C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955800" y="69851"/>
              <a:ext cx="2339975" cy="275594"/>
            </a:xfrm>
            <a:custGeom>
              <a:avLst/>
              <a:gdLst/>
              <a:ahLst/>
              <a:cxnLst/>
              <a:rect r="r" b="b" t="t" l="l"/>
              <a:pathLst>
                <a:path h="275594" w="2339975">
                  <a:moveTo>
                    <a:pt x="0" y="137797"/>
                  </a:moveTo>
                  <a:cubicBezTo>
                    <a:pt x="0" y="61723"/>
                    <a:pt x="61722" y="0"/>
                    <a:pt x="137795" y="0"/>
                  </a:cubicBezTo>
                  <a:lnTo>
                    <a:pt x="2202179" y="0"/>
                  </a:lnTo>
                  <a:cubicBezTo>
                    <a:pt x="2278252" y="0"/>
                    <a:pt x="2339974" y="61723"/>
                    <a:pt x="2339974" y="137797"/>
                  </a:cubicBezTo>
                  <a:cubicBezTo>
                    <a:pt x="2339974" y="213871"/>
                    <a:pt x="2278252" y="275593"/>
                    <a:pt x="2202179" y="275593"/>
                  </a:cubicBezTo>
                  <a:lnTo>
                    <a:pt x="137795" y="275593"/>
                  </a:lnTo>
                  <a:cubicBezTo>
                    <a:pt x="61722" y="275593"/>
                    <a:pt x="0" y="213871"/>
                    <a:pt x="0" y="137797"/>
                  </a:cubicBezTo>
                  <a:close/>
                </a:path>
              </a:pathLst>
            </a:custGeom>
            <a:solidFill>
              <a:srgbClr val="FCEFDB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949450" y="63501"/>
              <a:ext cx="2352675" cy="288294"/>
            </a:xfrm>
            <a:custGeom>
              <a:avLst/>
              <a:gdLst/>
              <a:ahLst/>
              <a:cxnLst/>
              <a:rect r="r" b="b" t="t" l="l"/>
              <a:pathLst>
                <a:path h="288294" w="2352675">
                  <a:moveTo>
                    <a:pt x="144145" y="0"/>
                  </a:moveTo>
                  <a:lnTo>
                    <a:pt x="2208529" y="0"/>
                  </a:lnTo>
                  <a:lnTo>
                    <a:pt x="2208529" y="6350"/>
                  </a:lnTo>
                  <a:lnTo>
                    <a:pt x="2208529" y="0"/>
                  </a:lnTo>
                  <a:cubicBezTo>
                    <a:pt x="2288158" y="0"/>
                    <a:pt x="2352674" y="64517"/>
                    <a:pt x="2352674" y="144147"/>
                  </a:cubicBezTo>
                  <a:lnTo>
                    <a:pt x="2346324" y="144147"/>
                  </a:lnTo>
                  <a:lnTo>
                    <a:pt x="2352674" y="144147"/>
                  </a:lnTo>
                  <a:cubicBezTo>
                    <a:pt x="2352674" y="223777"/>
                    <a:pt x="2288158" y="288294"/>
                    <a:pt x="2208529" y="288294"/>
                  </a:cubicBezTo>
                  <a:lnTo>
                    <a:pt x="2208529" y="281943"/>
                  </a:lnTo>
                  <a:lnTo>
                    <a:pt x="2208529" y="288294"/>
                  </a:lnTo>
                  <a:lnTo>
                    <a:pt x="144145" y="288294"/>
                  </a:lnTo>
                  <a:lnTo>
                    <a:pt x="144145" y="281943"/>
                  </a:lnTo>
                  <a:lnTo>
                    <a:pt x="144145" y="288294"/>
                  </a:lnTo>
                  <a:cubicBezTo>
                    <a:pt x="64516" y="288294"/>
                    <a:pt x="0" y="223777"/>
                    <a:pt x="0" y="144147"/>
                  </a:cubicBezTo>
                  <a:lnTo>
                    <a:pt x="6350" y="144147"/>
                  </a:lnTo>
                  <a:lnTo>
                    <a:pt x="0" y="144147"/>
                  </a:lnTo>
                  <a:cubicBezTo>
                    <a:pt x="0" y="64517"/>
                    <a:pt x="64643" y="0"/>
                    <a:pt x="144145" y="0"/>
                  </a:cubicBezTo>
                  <a:lnTo>
                    <a:pt x="144145" y="12700"/>
                  </a:lnTo>
                  <a:cubicBezTo>
                    <a:pt x="71501" y="12700"/>
                    <a:pt x="12700" y="71502"/>
                    <a:pt x="12700" y="144147"/>
                  </a:cubicBezTo>
                  <a:cubicBezTo>
                    <a:pt x="12700" y="216792"/>
                    <a:pt x="71501" y="275593"/>
                    <a:pt x="144145" y="275593"/>
                  </a:cubicBezTo>
                  <a:lnTo>
                    <a:pt x="2208529" y="275593"/>
                  </a:lnTo>
                  <a:cubicBezTo>
                    <a:pt x="2281173" y="275593"/>
                    <a:pt x="2339974" y="216792"/>
                    <a:pt x="2339974" y="144147"/>
                  </a:cubicBezTo>
                  <a:cubicBezTo>
                    <a:pt x="2339974" y="71502"/>
                    <a:pt x="2281173" y="12700"/>
                    <a:pt x="2208529" y="12700"/>
                  </a:cubicBezTo>
                  <a:lnTo>
                    <a:pt x="144145" y="12700"/>
                  </a:lnTo>
                  <a:close/>
                </a:path>
              </a:pathLst>
            </a:custGeom>
            <a:solidFill>
              <a:srgbClr val="E8930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649153" y="2538717"/>
            <a:ext cx="4647600" cy="415271"/>
            <a:chOff x="0" y="0"/>
            <a:chExt cx="4647603" cy="41527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9850" y="69851"/>
              <a:ext cx="2832989" cy="275594"/>
            </a:xfrm>
            <a:custGeom>
              <a:avLst/>
              <a:gdLst/>
              <a:ahLst/>
              <a:cxnLst/>
              <a:rect r="r" b="b" t="t" l="l"/>
              <a:pathLst>
                <a:path h="275594" w="2832989">
                  <a:moveTo>
                    <a:pt x="0" y="137797"/>
                  </a:moveTo>
                  <a:cubicBezTo>
                    <a:pt x="0" y="61723"/>
                    <a:pt x="61722" y="0"/>
                    <a:pt x="137795" y="0"/>
                  </a:cubicBezTo>
                  <a:lnTo>
                    <a:pt x="2695194" y="0"/>
                  </a:lnTo>
                  <a:cubicBezTo>
                    <a:pt x="2771267" y="0"/>
                    <a:pt x="2832989" y="61723"/>
                    <a:pt x="2832989" y="137797"/>
                  </a:cubicBezTo>
                  <a:cubicBezTo>
                    <a:pt x="2832989" y="213871"/>
                    <a:pt x="2771267" y="275593"/>
                    <a:pt x="2695194" y="275593"/>
                  </a:cubicBezTo>
                  <a:lnTo>
                    <a:pt x="137795" y="275593"/>
                  </a:lnTo>
                  <a:cubicBezTo>
                    <a:pt x="61722" y="275593"/>
                    <a:pt x="0" y="213871"/>
                    <a:pt x="0" y="137797"/>
                  </a:cubicBezTo>
                  <a:close/>
                </a:path>
              </a:pathLst>
            </a:custGeom>
            <a:solidFill>
              <a:srgbClr val="FCEFDB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63501"/>
              <a:ext cx="2845689" cy="288294"/>
            </a:xfrm>
            <a:custGeom>
              <a:avLst/>
              <a:gdLst/>
              <a:ahLst/>
              <a:cxnLst/>
              <a:rect r="r" b="b" t="t" l="l"/>
              <a:pathLst>
                <a:path h="288294" w="2845689">
                  <a:moveTo>
                    <a:pt x="144145" y="0"/>
                  </a:moveTo>
                  <a:lnTo>
                    <a:pt x="2701544" y="0"/>
                  </a:lnTo>
                  <a:lnTo>
                    <a:pt x="2701544" y="6350"/>
                  </a:lnTo>
                  <a:lnTo>
                    <a:pt x="2701544" y="0"/>
                  </a:lnTo>
                  <a:cubicBezTo>
                    <a:pt x="2781173" y="0"/>
                    <a:pt x="2845689" y="64517"/>
                    <a:pt x="2845689" y="144147"/>
                  </a:cubicBezTo>
                  <a:lnTo>
                    <a:pt x="2839339" y="144147"/>
                  </a:lnTo>
                  <a:lnTo>
                    <a:pt x="2845689" y="144147"/>
                  </a:lnTo>
                  <a:cubicBezTo>
                    <a:pt x="2845689" y="223777"/>
                    <a:pt x="2781173" y="288294"/>
                    <a:pt x="2701544" y="288294"/>
                  </a:cubicBezTo>
                  <a:lnTo>
                    <a:pt x="2701544" y="281943"/>
                  </a:lnTo>
                  <a:lnTo>
                    <a:pt x="2701544" y="288294"/>
                  </a:lnTo>
                  <a:lnTo>
                    <a:pt x="144145" y="288294"/>
                  </a:lnTo>
                  <a:lnTo>
                    <a:pt x="144145" y="281943"/>
                  </a:lnTo>
                  <a:lnTo>
                    <a:pt x="144145" y="288294"/>
                  </a:lnTo>
                  <a:cubicBezTo>
                    <a:pt x="64516" y="288294"/>
                    <a:pt x="0" y="223777"/>
                    <a:pt x="0" y="144147"/>
                  </a:cubicBezTo>
                  <a:lnTo>
                    <a:pt x="6350" y="144147"/>
                  </a:lnTo>
                  <a:lnTo>
                    <a:pt x="0" y="144147"/>
                  </a:lnTo>
                  <a:cubicBezTo>
                    <a:pt x="0" y="64517"/>
                    <a:pt x="64516" y="0"/>
                    <a:pt x="144145" y="0"/>
                  </a:cubicBezTo>
                  <a:lnTo>
                    <a:pt x="144145" y="12700"/>
                  </a:lnTo>
                  <a:cubicBezTo>
                    <a:pt x="71501" y="12700"/>
                    <a:pt x="12700" y="71502"/>
                    <a:pt x="12700" y="144147"/>
                  </a:cubicBezTo>
                  <a:cubicBezTo>
                    <a:pt x="12700" y="216792"/>
                    <a:pt x="71501" y="275593"/>
                    <a:pt x="144145" y="275593"/>
                  </a:cubicBezTo>
                  <a:lnTo>
                    <a:pt x="2701544" y="275593"/>
                  </a:lnTo>
                  <a:cubicBezTo>
                    <a:pt x="2774188" y="275593"/>
                    <a:pt x="2832989" y="216792"/>
                    <a:pt x="2832989" y="144147"/>
                  </a:cubicBezTo>
                  <a:cubicBezTo>
                    <a:pt x="2832989" y="71502"/>
                    <a:pt x="2774061" y="12700"/>
                    <a:pt x="2701544" y="12700"/>
                  </a:cubicBezTo>
                  <a:lnTo>
                    <a:pt x="144145" y="12700"/>
                  </a:lnTo>
                  <a:close/>
                </a:path>
              </a:pathLst>
            </a:custGeom>
            <a:solidFill>
              <a:srgbClr val="E8930C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966085" y="69851"/>
              <a:ext cx="1611630" cy="275594"/>
            </a:xfrm>
            <a:custGeom>
              <a:avLst/>
              <a:gdLst/>
              <a:ahLst/>
              <a:cxnLst/>
              <a:rect r="r" b="b" t="t" l="l"/>
              <a:pathLst>
                <a:path h="275594" w="1611630">
                  <a:moveTo>
                    <a:pt x="0" y="137797"/>
                  </a:moveTo>
                  <a:cubicBezTo>
                    <a:pt x="0" y="61723"/>
                    <a:pt x="61722" y="0"/>
                    <a:pt x="137795" y="0"/>
                  </a:cubicBezTo>
                  <a:lnTo>
                    <a:pt x="1473835" y="0"/>
                  </a:lnTo>
                  <a:cubicBezTo>
                    <a:pt x="1549908" y="0"/>
                    <a:pt x="1611630" y="61723"/>
                    <a:pt x="1611630" y="137797"/>
                  </a:cubicBezTo>
                  <a:cubicBezTo>
                    <a:pt x="1611630" y="213871"/>
                    <a:pt x="1550035" y="275593"/>
                    <a:pt x="1473835" y="275593"/>
                  </a:cubicBezTo>
                  <a:lnTo>
                    <a:pt x="137795" y="275593"/>
                  </a:lnTo>
                  <a:cubicBezTo>
                    <a:pt x="61722" y="275593"/>
                    <a:pt x="0" y="213871"/>
                    <a:pt x="0" y="137797"/>
                  </a:cubicBezTo>
                  <a:close/>
                </a:path>
              </a:pathLst>
            </a:custGeom>
            <a:solidFill>
              <a:srgbClr val="FCEFDB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2959735" y="63501"/>
              <a:ext cx="1624330" cy="288294"/>
            </a:xfrm>
            <a:custGeom>
              <a:avLst/>
              <a:gdLst/>
              <a:ahLst/>
              <a:cxnLst/>
              <a:rect r="r" b="b" t="t" l="l"/>
              <a:pathLst>
                <a:path h="288294" w="1624330">
                  <a:moveTo>
                    <a:pt x="144145" y="0"/>
                  </a:moveTo>
                  <a:lnTo>
                    <a:pt x="1480185" y="0"/>
                  </a:lnTo>
                  <a:lnTo>
                    <a:pt x="1480185" y="6350"/>
                  </a:lnTo>
                  <a:lnTo>
                    <a:pt x="1480185" y="0"/>
                  </a:lnTo>
                  <a:cubicBezTo>
                    <a:pt x="1559814" y="0"/>
                    <a:pt x="1624330" y="64517"/>
                    <a:pt x="1624330" y="144147"/>
                  </a:cubicBezTo>
                  <a:lnTo>
                    <a:pt x="1617980" y="144147"/>
                  </a:lnTo>
                  <a:lnTo>
                    <a:pt x="1624330" y="144147"/>
                  </a:lnTo>
                  <a:cubicBezTo>
                    <a:pt x="1624330" y="223777"/>
                    <a:pt x="1559814" y="288294"/>
                    <a:pt x="1480185" y="288294"/>
                  </a:cubicBezTo>
                  <a:lnTo>
                    <a:pt x="1480185" y="281943"/>
                  </a:lnTo>
                  <a:lnTo>
                    <a:pt x="1480185" y="288294"/>
                  </a:lnTo>
                  <a:lnTo>
                    <a:pt x="144145" y="288294"/>
                  </a:lnTo>
                  <a:lnTo>
                    <a:pt x="144145" y="281943"/>
                  </a:lnTo>
                  <a:lnTo>
                    <a:pt x="144145" y="288294"/>
                  </a:lnTo>
                  <a:cubicBezTo>
                    <a:pt x="64516" y="288294"/>
                    <a:pt x="0" y="223777"/>
                    <a:pt x="0" y="144147"/>
                  </a:cubicBezTo>
                  <a:lnTo>
                    <a:pt x="6350" y="144147"/>
                  </a:lnTo>
                  <a:lnTo>
                    <a:pt x="0" y="144147"/>
                  </a:lnTo>
                  <a:cubicBezTo>
                    <a:pt x="0" y="64517"/>
                    <a:pt x="64516" y="0"/>
                    <a:pt x="144145" y="0"/>
                  </a:cubicBezTo>
                  <a:lnTo>
                    <a:pt x="144145" y="12700"/>
                  </a:lnTo>
                  <a:cubicBezTo>
                    <a:pt x="71501" y="12700"/>
                    <a:pt x="12700" y="71502"/>
                    <a:pt x="12700" y="144147"/>
                  </a:cubicBezTo>
                  <a:cubicBezTo>
                    <a:pt x="12700" y="216792"/>
                    <a:pt x="71628" y="275593"/>
                    <a:pt x="144145" y="275593"/>
                  </a:cubicBezTo>
                  <a:lnTo>
                    <a:pt x="1480185" y="275593"/>
                  </a:lnTo>
                  <a:cubicBezTo>
                    <a:pt x="1552829" y="275593"/>
                    <a:pt x="1611630" y="216792"/>
                    <a:pt x="1611630" y="144147"/>
                  </a:cubicBezTo>
                  <a:cubicBezTo>
                    <a:pt x="1611630" y="71502"/>
                    <a:pt x="1552829" y="12700"/>
                    <a:pt x="1480185" y="12700"/>
                  </a:cubicBezTo>
                  <a:lnTo>
                    <a:pt x="144145" y="12700"/>
                  </a:lnTo>
                  <a:close/>
                </a:path>
              </a:pathLst>
            </a:custGeom>
            <a:solidFill>
              <a:srgbClr val="E8930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15997" y="388839"/>
            <a:ext cx="6776190" cy="5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Enfoque industrial y de manufactura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2605" y="532676"/>
            <a:ext cx="104842" cy="24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"/>
              </a:lnSpc>
            </a:pPr>
            <a:r>
              <a:rPr lang="en-US" b="true" sz="130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4002" y="1227115"/>
            <a:ext cx="1369657" cy="814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b="true" sz="4400">
                <a:solidFill>
                  <a:srgbClr val="E8930C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92 %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7176" y="1941719"/>
            <a:ext cx="5382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4002" y="1941719"/>
            <a:ext cx="27819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demásde 350ejecutivos de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74002" y="2216039"/>
            <a:ext cx="3297050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manufactura yaexperimenta o implementa casosdel </a:t>
            </a: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metaverso industrial</a:t>
            </a: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916996" y="3803561"/>
            <a:ext cx="4902632" cy="57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esperado en calidad, rendimiento y productividad en 1 a 3 años.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18999" y="1143895"/>
            <a:ext cx="5317722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b="true" sz="18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Expectativa:</a:t>
            </a:r>
            <a:r>
              <a:rPr lang="en-US" b="true" sz="18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unir XR y gemelos digitales para operar mejor.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844996" y="1884093"/>
            <a:ext cx="4341019" cy="1000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b="true" sz="1400" i="true">
                <a:solidFill>
                  <a:srgbClr val="A26708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Gemelos digitales</a:t>
            </a: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400" i="true">
                <a:solidFill>
                  <a:srgbClr val="A26708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Simulación de procesos Capacitación de operadores</a:t>
            </a: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400" i="true">
                <a:solidFill>
                  <a:srgbClr val="A26708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Soporte remoto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16996" y="3308290"/>
            <a:ext cx="1244832" cy="59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>
                <a:solidFill>
                  <a:srgbClr val="E8930C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+12 %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5996" y="5348354"/>
            <a:ext cx="3014891" cy="20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Fuentes: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(Wellener et al., 2023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);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(PwC, 2019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1612" y="5563048"/>
            <a:ext cx="35881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Equipo7 · AmbientesVirtualesInmersivos · 7NM78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45513" y="5563048"/>
            <a:ext cx="71895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5996" y="1768640"/>
            <a:ext cx="3558464" cy="2448001"/>
            <a:chOff x="0" y="0"/>
            <a:chExt cx="3558464" cy="2448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58415" cy="2448053"/>
            </a:xfrm>
            <a:custGeom>
              <a:avLst/>
              <a:gdLst/>
              <a:ahLst/>
              <a:cxnLst/>
              <a:rect r="r" b="b" t="t" l="l"/>
              <a:pathLst>
                <a:path h="2448053" w="3558415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3431415" y="0"/>
                  </a:lnTo>
                  <a:cubicBezTo>
                    <a:pt x="3501519" y="0"/>
                    <a:pt x="3558415" y="56896"/>
                    <a:pt x="3558415" y="127000"/>
                  </a:cubicBezTo>
                  <a:lnTo>
                    <a:pt x="3558415" y="2321053"/>
                  </a:lnTo>
                  <a:cubicBezTo>
                    <a:pt x="3558415" y="2391157"/>
                    <a:pt x="3501519" y="2448053"/>
                    <a:pt x="3431415" y="2448053"/>
                  </a:cubicBezTo>
                  <a:lnTo>
                    <a:pt x="127000" y="2448053"/>
                  </a:lnTo>
                  <a:cubicBezTo>
                    <a:pt x="56896" y="2448053"/>
                    <a:pt x="0" y="2391157"/>
                    <a:pt x="0" y="2321053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5996" y="468001"/>
            <a:ext cx="396002" cy="396002"/>
            <a:chOff x="0" y="0"/>
            <a:chExt cx="395999" cy="3959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5985" cy="395985"/>
            </a:xfrm>
            <a:custGeom>
              <a:avLst/>
              <a:gdLst/>
              <a:ahLst/>
              <a:cxnLst/>
              <a:rect r="r" b="b" t="t" l="l"/>
              <a:pathLst>
                <a:path h="395985" w="395985">
                  <a:moveTo>
                    <a:pt x="0" y="197992"/>
                  </a:moveTo>
                  <a:cubicBezTo>
                    <a:pt x="0" y="88773"/>
                    <a:pt x="88773" y="0"/>
                    <a:pt x="197992" y="0"/>
                  </a:cubicBezTo>
                  <a:cubicBezTo>
                    <a:pt x="307212" y="0"/>
                    <a:pt x="395985" y="88773"/>
                    <a:pt x="395985" y="197992"/>
                  </a:cubicBezTo>
                  <a:cubicBezTo>
                    <a:pt x="395985" y="307212"/>
                    <a:pt x="307212" y="395985"/>
                    <a:pt x="197992" y="395985"/>
                  </a:cubicBezTo>
                  <a:cubicBezTo>
                    <a:pt x="88773" y="395985"/>
                    <a:pt x="0" y="307212"/>
                    <a:pt x="0" y="197992"/>
                  </a:cubicBezTo>
                </a:path>
              </a:pathLst>
            </a:custGeom>
            <a:solidFill>
              <a:srgbClr val="00A39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4358964" y="1705146"/>
            <a:ext cx="5820537" cy="2574998"/>
            <a:chOff x="0" y="0"/>
            <a:chExt cx="5820537" cy="25750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5693536" cy="2448053"/>
            </a:xfrm>
            <a:custGeom>
              <a:avLst/>
              <a:gdLst/>
              <a:ahLst/>
              <a:cxnLst/>
              <a:rect r="r" b="b" t="t" l="l"/>
              <a:pathLst>
                <a:path h="2448053" w="5693536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5566536" y="0"/>
                  </a:lnTo>
                  <a:cubicBezTo>
                    <a:pt x="5636640" y="0"/>
                    <a:pt x="5693536" y="56896"/>
                    <a:pt x="5693536" y="127000"/>
                  </a:cubicBezTo>
                  <a:lnTo>
                    <a:pt x="5693536" y="2321053"/>
                  </a:lnTo>
                  <a:cubicBezTo>
                    <a:pt x="5693536" y="2391157"/>
                    <a:pt x="5636640" y="2448053"/>
                    <a:pt x="5566536" y="2448053"/>
                  </a:cubicBezTo>
                  <a:lnTo>
                    <a:pt x="127000" y="2448053"/>
                  </a:lnTo>
                  <a:cubicBezTo>
                    <a:pt x="56896" y="2448053"/>
                    <a:pt x="0" y="2391157"/>
                    <a:pt x="0" y="2321053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61493" y="680212"/>
              <a:ext cx="323977" cy="323977"/>
            </a:xfrm>
            <a:custGeom>
              <a:avLst/>
              <a:gdLst/>
              <a:ahLst/>
              <a:cxnLst/>
              <a:rect r="r" b="b" t="t" l="l"/>
              <a:pathLst>
                <a:path h="323977" w="323977">
                  <a:moveTo>
                    <a:pt x="0" y="162052"/>
                  </a:moveTo>
                  <a:cubicBezTo>
                    <a:pt x="0" y="72644"/>
                    <a:pt x="72644" y="0"/>
                    <a:pt x="162052" y="0"/>
                  </a:cubicBezTo>
                  <a:cubicBezTo>
                    <a:pt x="251460" y="0"/>
                    <a:pt x="323977" y="72644"/>
                    <a:pt x="323977" y="162052"/>
                  </a:cubicBezTo>
                  <a:cubicBezTo>
                    <a:pt x="323977" y="251460"/>
                    <a:pt x="251333" y="323977"/>
                    <a:pt x="162052" y="323977"/>
                  </a:cubicBezTo>
                  <a:cubicBezTo>
                    <a:pt x="72771" y="323977"/>
                    <a:pt x="0" y="251333"/>
                    <a:pt x="0" y="162052"/>
                  </a:cubicBezTo>
                </a:path>
              </a:pathLst>
            </a:custGeom>
            <a:solidFill>
              <a:srgbClr val="00A39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261493" y="1130173"/>
              <a:ext cx="323977" cy="323977"/>
            </a:xfrm>
            <a:custGeom>
              <a:avLst/>
              <a:gdLst/>
              <a:ahLst/>
              <a:cxnLst/>
              <a:rect r="r" b="b" t="t" l="l"/>
              <a:pathLst>
                <a:path h="323977" w="323977">
                  <a:moveTo>
                    <a:pt x="0" y="162053"/>
                  </a:moveTo>
                  <a:cubicBezTo>
                    <a:pt x="0" y="72645"/>
                    <a:pt x="72644" y="0"/>
                    <a:pt x="162052" y="0"/>
                  </a:cubicBezTo>
                  <a:cubicBezTo>
                    <a:pt x="251460" y="0"/>
                    <a:pt x="323977" y="72645"/>
                    <a:pt x="323977" y="162053"/>
                  </a:cubicBezTo>
                  <a:cubicBezTo>
                    <a:pt x="323977" y="251461"/>
                    <a:pt x="251333" y="323978"/>
                    <a:pt x="162052" y="323978"/>
                  </a:cubicBezTo>
                  <a:cubicBezTo>
                    <a:pt x="72771" y="323978"/>
                    <a:pt x="0" y="251334"/>
                    <a:pt x="0" y="161926"/>
                  </a:cubicBezTo>
                </a:path>
              </a:pathLst>
            </a:custGeom>
            <a:solidFill>
              <a:srgbClr val="00A39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22605" y="532676"/>
            <a:ext cx="104842" cy="24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"/>
              </a:lnSpc>
            </a:pPr>
            <a:r>
              <a:rPr lang="en-US" b="true" sz="130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5997" y="388839"/>
            <a:ext cx="3226689" cy="5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Enfoque de salud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5996" y="1153420"/>
            <a:ext cx="9032853" cy="34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Expectativa:</a:t>
            </a:r>
            <a:r>
              <a:rPr lang="en-US" b="true" sz="18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que el personal practique sin poner en riesgo a pacientes reales.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4002" y="1707918"/>
            <a:ext cx="3161233" cy="163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6"/>
              </a:lnSpc>
            </a:pPr>
            <a:r>
              <a:rPr lang="en-US" b="true" sz="4400" spc="422">
                <a:solidFill>
                  <a:srgbClr val="00A39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31</a:t>
            </a:r>
            <a:r>
              <a:rPr lang="en-US" b="true" sz="4400" i="true" spc="422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  <a:p>
            <a:pPr algn="l">
              <a:lnSpc>
                <a:spcPts val="2235"/>
              </a:lnSpc>
            </a:pP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ensayos</a:t>
            </a: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en cirugía laparoscópica analizados en un metaanálisis</a:t>
            </a:r>
            <a:r>
              <a:rPr lang="en-US" b="true" sz="15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20463" y="1885112"/>
            <a:ext cx="347775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Resultado del entrenamiento con VR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20463" y="3380127"/>
            <a:ext cx="5120259" cy="864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5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Es el mismo principio de nuestro </a:t>
            </a: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Consultorio Seguro</a:t>
            </a: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: practicar la clasificación de residuos sin tocar materiales peligrosos.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41640" y="2427875"/>
            <a:ext cx="83277" cy="213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071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&gt;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52460" y="2265817"/>
            <a:ext cx="4648514" cy="874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3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más efectivo que el entrenamiento con video al menos igual que las cajas de práctica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46603" y="2885618"/>
            <a:ext cx="73152" cy="194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0"/>
              </a:lnSpc>
            </a:pPr>
            <a:r>
              <a:rPr lang="en-US" b="true" sz="1071" spc="-16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≥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5996" y="5348354"/>
            <a:ext cx="1910705" cy="20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Fuente: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(Alaker et al., 2016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1612" y="5563048"/>
            <a:ext cx="35881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Equipo7 · AmbientesVirtualesInmersivos · 7NM78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75028" y="5563048"/>
            <a:ext cx="143789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5996" y="468001"/>
            <a:ext cx="396002" cy="396002"/>
            <a:chOff x="0" y="0"/>
            <a:chExt cx="395999" cy="3959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5985" cy="395985"/>
            </a:xfrm>
            <a:custGeom>
              <a:avLst/>
              <a:gdLst/>
              <a:ahLst/>
              <a:cxnLst/>
              <a:rect r="r" b="b" t="t" l="l"/>
              <a:pathLst>
                <a:path h="395985" w="395985">
                  <a:moveTo>
                    <a:pt x="0" y="197992"/>
                  </a:moveTo>
                  <a:cubicBezTo>
                    <a:pt x="0" y="88773"/>
                    <a:pt x="88773" y="0"/>
                    <a:pt x="197992" y="0"/>
                  </a:cubicBezTo>
                  <a:cubicBezTo>
                    <a:pt x="307212" y="0"/>
                    <a:pt x="395985" y="88773"/>
                    <a:pt x="395985" y="197992"/>
                  </a:cubicBezTo>
                  <a:cubicBezTo>
                    <a:pt x="395985" y="307212"/>
                    <a:pt x="307212" y="395985"/>
                    <a:pt x="197992" y="395985"/>
                  </a:cubicBezTo>
                  <a:cubicBezTo>
                    <a:pt x="88773" y="395985"/>
                    <a:pt x="0" y="307212"/>
                    <a:pt x="0" y="197992"/>
                  </a:cubicBezTo>
                </a:path>
              </a:pathLst>
            </a:custGeom>
            <a:solidFill>
              <a:srgbClr val="5F5A7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5996" y="1840640"/>
            <a:ext cx="359997" cy="359997"/>
            <a:chOff x="0" y="0"/>
            <a:chExt cx="359994" cy="35999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0039" cy="360039"/>
            </a:xfrm>
            <a:custGeom>
              <a:avLst/>
              <a:gdLst/>
              <a:ahLst/>
              <a:cxnLst/>
              <a:rect r="r" b="b" t="t" l="l"/>
              <a:pathLst>
                <a:path h="360039" w="360039">
                  <a:moveTo>
                    <a:pt x="0" y="179956"/>
                  </a:moveTo>
                  <a:cubicBezTo>
                    <a:pt x="0" y="80644"/>
                    <a:pt x="80644" y="0"/>
                    <a:pt x="179956" y="0"/>
                  </a:cubicBezTo>
                  <a:cubicBezTo>
                    <a:pt x="279268" y="0"/>
                    <a:pt x="360039" y="80644"/>
                    <a:pt x="360039" y="179956"/>
                  </a:cubicBezTo>
                  <a:cubicBezTo>
                    <a:pt x="360039" y="279268"/>
                    <a:pt x="279268" y="360039"/>
                    <a:pt x="179956" y="360039"/>
                  </a:cubicBezTo>
                  <a:cubicBezTo>
                    <a:pt x="80644" y="360039"/>
                    <a:pt x="0" y="279268"/>
                    <a:pt x="0" y="179956"/>
                  </a:cubicBezTo>
                </a:path>
              </a:pathLst>
            </a:custGeom>
            <a:solidFill>
              <a:srgbClr val="5F5A7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006004" y="1840640"/>
            <a:ext cx="359997" cy="359997"/>
            <a:chOff x="0" y="0"/>
            <a:chExt cx="359994" cy="359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0039" cy="360039"/>
            </a:xfrm>
            <a:custGeom>
              <a:avLst/>
              <a:gdLst/>
              <a:ahLst/>
              <a:cxnLst/>
              <a:rect r="r" b="b" t="t" l="l"/>
              <a:pathLst>
                <a:path h="360039" w="360039">
                  <a:moveTo>
                    <a:pt x="0" y="179956"/>
                  </a:moveTo>
                  <a:cubicBezTo>
                    <a:pt x="0" y="80644"/>
                    <a:pt x="80644" y="0"/>
                    <a:pt x="179956" y="0"/>
                  </a:cubicBezTo>
                  <a:cubicBezTo>
                    <a:pt x="279269" y="0"/>
                    <a:pt x="360039" y="80644"/>
                    <a:pt x="360039" y="179956"/>
                  </a:cubicBezTo>
                  <a:cubicBezTo>
                    <a:pt x="360039" y="279268"/>
                    <a:pt x="279269" y="360039"/>
                    <a:pt x="179956" y="360039"/>
                  </a:cubicBezTo>
                  <a:cubicBezTo>
                    <a:pt x="80644" y="360039"/>
                    <a:pt x="0" y="279268"/>
                    <a:pt x="0" y="179956"/>
                  </a:cubicBezTo>
                </a:path>
              </a:pathLst>
            </a:custGeom>
            <a:solidFill>
              <a:srgbClr val="5F5A7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36003" y="1840640"/>
            <a:ext cx="359997" cy="359997"/>
            <a:chOff x="0" y="0"/>
            <a:chExt cx="359994" cy="35999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0039" cy="360039"/>
            </a:xfrm>
            <a:custGeom>
              <a:avLst/>
              <a:gdLst/>
              <a:ahLst/>
              <a:cxnLst/>
              <a:rect r="r" b="b" t="t" l="l"/>
              <a:pathLst>
                <a:path h="360039" w="360039">
                  <a:moveTo>
                    <a:pt x="0" y="179956"/>
                  </a:moveTo>
                  <a:cubicBezTo>
                    <a:pt x="0" y="80644"/>
                    <a:pt x="80644" y="0"/>
                    <a:pt x="179956" y="0"/>
                  </a:cubicBezTo>
                  <a:cubicBezTo>
                    <a:pt x="279268" y="0"/>
                    <a:pt x="360039" y="80644"/>
                    <a:pt x="360039" y="179956"/>
                  </a:cubicBezTo>
                  <a:cubicBezTo>
                    <a:pt x="360039" y="279268"/>
                    <a:pt x="279268" y="360039"/>
                    <a:pt x="179956" y="360039"/>
                  </a:cubicBezTo>
                  <a:cubicBezTo>
                    <a:pt x="80644" y="360039"/>
                    <a:pt x="0" y="279268"/>
                    <a:pt x="0" y="179956"/>
                  </a:cubicBezTo>
                </a:path>
              </a:pathLst>
            </a:custGeom>
            <a:solidFill>
              <a:srgbClr val="5F5A7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866002" y="1840640"/>
            <a:ext cx="359997" cy="359997"/>
            <a:chOff x="0" y="0"/>
            <a:chExt cx="359994" cy="35999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0039" cy="360039"/>
            </a:xfrm>
            <a:custGeom>
              <a:avLst/>
              <a:gdLst/>
              <a:ahLst/>
              <a:cxnLst/>
              <a:rect r="r" b="b" t="t" l="l"/>
              <a:pathLst>
                <a:path h="360039" w="360039">
                  <a:moveTo>
                    <a:pt x="0" y="179956"/>
                  </a:moveTo>
                  <a:cubicBezTo>
                    <a:pt x="0" y="80644"/>
                    <a:pt x="80644" y="0"/>
                    <a:pt x="179956" y="0"/>
                  </a:cubicBezTo>
                  <a:cubicBezTo>
                    <a:pt x="279269" y="0"/>
                    <a:pt x="360039" y="80644"/>
                    <a:pt x="360039" y="179956"/>
                  </a:cubicBezTo>
                  <a:cubicBezTo>
                    <a:pt x="360039" y="279268"/>
                    <a:pt x="279269" y="360039"/>
                    <a:pt x="179956" y="360039"/>
                  </a:cubicBezTo>
                  <a:cubicBezTo>
                    <a:pt x="80644" y="360039"/>
                    <a:pt x="0" y="279268"/>
                    <a:pt x="0" y="179956"/>
                  </a:cubicBezTo>
                </a:path>
              </a:pathLst>
            </a:custGeom>
            <a:solidFill>
              <a:srgbClr val="E5484D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22605" y="532676"/>
            <a:ext cx="104842" cy="24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"/>
              </a:lnSpc>
            </a:pPr>
            <a:r>
              <a:rPr lang="en-US" b="true" sz="130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15997" y="388839"/>
            <a:ext cx="5829510" cy="5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 spc="2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Enfoque de gobierno y defensa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5996" y="1153420"/>
            <a:ext cx="8321211" cy="341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Expectativa:</a:t>
            </a:r>
            <a:r>
              <a:rPr lang="en-US" b="true" sz="18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dar al soldado información táctica en tiempo real con MR.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9279" y="1903771"/>
            <a:ext cx="95307" cy="22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b="true" sz="1190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39278" y="1903771"/>
            <a:ext cx="95307" cy="22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b="true" sz="1190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69277" y="1903771"/>
            <a:ext cx="95307" cy="22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b="true" sz="1190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999276" y="1903771"/>
            <a:ext cx="95307" cy="22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b="true" sz="1190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5996" y="2393823"/>
            <a:ext cx="723557" cy="30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 spc="6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Origen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4761" y="2729179"/>
            <a:ext cx="50235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06004" y="2393823"/>
            <a:ext cx="1075077" cy="30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 spc="3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Abril 2025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140774" y="2729179"/>
            <a:ext cx="50235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36003" y="2393823"/>
            <a:ext cx="1100985" cy="30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Sept. 2025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38867" y="2729179"/>
            <a:ext cx="50235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66002" y="2393823"/>
            <a:ext cx="2143630" cy="59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Julio 2026</a:t>
            </a:r>
          </a:p>
          <a:p>
            <a:pPr algn="l">
              <a:lnSpc>
                <a:spcPts val="1960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Las unidadesoriginales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014050" y="2729179"/>
            <a:ext cx="50235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75996" y="2691079"/>
            <a:ext cx="2233041" cy="905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IVAS:visores basados en HoloLens para el Ejército de EE. UU.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006004" y="2691079"/>
            <a:ext cx="1788900" cy="60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Elcontrato pasa de Microsoft a Anduril.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36003" y="2691079"/>
            <a:ext cx="2031730" cy="905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Sereorganiza como </a:t>
            </a:r>
            <a:r>
              <a:rPr lang="en-US" b="true" sz="14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Soldier Borne Mission Command</a:t>
            </a: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866002" y="2994108"/>
            <a:ext cx="2077431" cy="60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no se despliegan: muy caras a escala.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75996" y="3842023"/>
            <a:ext cx="8922715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La expectativa sigue en pie, pero el costo del equipo puede detener un programa completo.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75996" y="5348354"/>
            <a:ext cx="3326949" cy="20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Fuente: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(Congressional Research Service, 2026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11612" y="5563048"/>
            <a:ext cx="35881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Equipo7 · AmbientesVirtualesInmersivos · 7NM78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75028" y="5563048"/>
            <a:ext cx="143789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5996" y="2109254"/>
            <a:ext cx="3035998" cy="2160003"/>
            <a:chOff x="0" y="0"/>
            <a:chExt cx="3035998" cy="21600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36060" cy="2160019"/>
            </a:xfrm>
            <a:custGeom>
              <a:avLst/>
              <a:gdLst/>
              <a:ahLst/>
              <a:cxnLst/>
              <a:rect r="r" b="b" t="t" l="l"/>
              <a:pathLst>
                <a:path h="2160019" w="303606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0" y="0"/>
                  </a:lnTo>
                  <a:cubicBezTo>
                    <a:pt x="2979164" y="0"/>
                    <a:pt x="3036060" y="56896"/>
                    <a:pt x="3036060" y="127000"/>
                  </a:cubicBezTo>
                  <a:lnTo>
                    <a:pt x="3036060" y="2033019"/>
                  </a:lnTo>
                  <a:cubicBezTo>
                    <a:pt x="3036060" y="2103123"/>
                    <a:pt x="2979164" y="2160019"/>
                    <a:pt x="2909060" y="2160019"/>
                  </a:cubicBezTo>
                  <a:lnTo>
                    <a:pt x="127000" y="2160019"/>
                  </a:lnTo>
                  <a:cubicBezTo>
                    <a:pt x="56896" y="2160019"/>
                    <a:pt x="0" y="2103123"/>
                    <a:pt x="0" y="2033019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5996" y="468001"/>
            <a:ext cx="396002" cy="396002"/>
            <a:chOff x="0" y="0"/>
            <a:chExt cx="395999" cy="3959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5985" cy="395985"/>
            </a:xfrm>
            <a:custGeom>
              <a:avLst/>
              <a:gdLst/>
              <a:ahLst/>
              <a:cxnLst/>
              <a:rect r="r" b="b" t="t" l="l"/>
              <a:pathLst>
                <a:path h="395985" w="395985">
                  <a:moveTo>
                    <a:pt x="0" y="197992"/>
                  </a:moveTo>
                  <a:cubicBezTo>
                    <a:pt x="0" y="88773"/>
                    <a:pt x="88773" y="0"/>
                    <a:pt x="197992" y="0"/>
                  </a:cubicBezTo>
                  <a:cubicBezTo>
                    <a:pt x="307212" y="0"/>
                    <a:pt x="395985" y="88773"/>
                    <a:pt x="395985" y="197992"/>
                  </a:cubicBezTo>
                  <a:cubicBezTo>
                    <a:pt x="395985" y="307212"/>
                    <a:pt x="307212" y="395985"/>
                    <a:pt x="197992" y="395985"/>
                  </a:cubicBezTo>
                  <a:cubicBezTo>
                    <a:pt x="88773" y="395985"/>
                    <a:pt x="0" y="307212"/>
                    <a:pt x="0" y="197992"/>
                  </a:cubicBezTo>
                </a:path>
              </a:pathLst>
            </a:custGeom>
            <a:solidFill>
              <a:srgbClr val="1A143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828002" y="2109254"/>
            <a:ext cx="3035998" cy="2160003"/>
            <a:chOff x="0" y="0"/>
            <a:chExt cx="3035998" cy="21600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36061" cy="2160019"/>
            </a:xfrm>
            <a:custGeom>
              <a:avLst/>
              <a:gdLst/>
              <a:ahLst/>
              <a:cxnLst/>
              <a:rect r="r" b="b" t="t" l="l"/>
              <a:pathLst>
                <a:path h="2160019" w="303606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1" y="0"/>
                  </a:lnTo>
                  <a:cubicBezTo>
                    <a:pt x="2979165" y="0"/>
                    <a:pt x="3036061" y="56896"/>
                    <a:pt x="3036061" y="127000"/>
                  </a:cubicBezTo>
                  <a:lnTo>
                    <a:pt x="3036061" y="2033019"/>
                  </a:lnTo>
                  <a:cubicBezTo>
                    <a:pt x="3036061" y="2103123"/>
                    <a:pt x="2979165" y="2160019"/>
                    <a:pt x="2909061" y="2160019"/>
                  </a:cubicBezTo>
                  <a:lnTo>
                    <a:pt x="127000" y="2160019"/>
                  </a:lnTo>
                  <a:cubicBezTo>
                    <a:pt x="56896" y="2160019"/>
                    <a:pt x="0" y="2103123"/>
                    <a:pt x="0" y="2033019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079999" y="2109254"/>
            <a:ext cx="3035998" cy="2160003"/>
            <a:chOff x="0" y="0"/>
            <a:chExt cx="3035998" cy="21600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36060" cy="2160019"/>
            </a:xfrm>
            <a:custGeom>
              <a:avLst/>
              <a:gdLst/>
              <a:ahLst/>
              <a:cxnLst/>
              <a:rect r="r" b="b" t="t" l="l"/>
              <a:pathLst>
                <a:path h="2160019" w="303606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1" y="0"/>
                  </a:lnTo>
                  <a:cubicBezTo>
                    <a:pt x="2979165" y="0"/>
                    <a:pt x="3036060" y="56896"/>
                    <a:pt x="3036060" y="127000"/>
                  </a:cubicBezTo>
                  <a:lnTo>
                    <a:pt x="3036060" y="2033019"/>
                  </a:lnTo>
                  <a:cubicBezTo>
                    <a:pt x="3036060" y="2103123"/>
                    <a:pt x="2979165" y="2160019"/>
                    <a:pt x="2909061" y="2160019"/>
                  </a:cubicBezTo>
                  <a:lnTo>
                    <a:pt x="127000" y="2160019"/>
                  </a:lnTo>
                  <a:cubicBezTo>
                    <a:pt x="56896" y="2160019"/>
                    <a:pt x="0" y="2103123"/>
                    <a:pt x="0" y="2033019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22605" y="532676"/>
            <a:ext cx="104842" cy="24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3"/>
              </a:lnSpc>
            </a:pPr>
            <a:r>
              <a:rPr lang="en-US" b="true" sz="130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5997" y="388839"/>
            <a:ext cx="7047128" cy="5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Enfoque de capacitación corporativa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5996" y="1143895"/>
            <a:ext cx="9306830" cy="691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b="true" sz="18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Expectativa:</a:t>
            </a:r>
            <a:r>
              <a:rPr lang="en-US" b="true" sz="18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capacitación más rápida, medible y repetible. Estudio de PwC con nuevos gerentes: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4002" y="2048532"/>
            <a:ext cx="2349017" cy="134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6"/>
              </a:lnSpc>
            </a:pPr>
            <a:r>
              <a:rPr lang="en-US" b="true" sz="4400">
                <a:solidFill>
                  <a:srgbClr val="7C4D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4×</a:t>
            </a:r>
            <a:r>
              <a:rPr lang="en-US" b="true" sz="4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  <a:p>
            <a:pPr algn="l">
              <a:lnSpc>
                <a:spcPts val="2235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hastacuatro veces </a:t>
            </a: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más rápido</a:t>
            </a: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que en el aula.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25998" y="2086632"/>
            <a:ext cx="1721901" cy="814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b="true" sz="4400">
                <a:solidFill>
                  <a:srgbClr val="00A39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275 %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44920" y="2801236"/>
            <a:ext cx="5382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77995" y="2048532"/>
            <a:ext cx="2612888" cy="1633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56"/>
              </a:lnSpc>
            </a:pPr>
            <a:r>
              <a:rPr lang="en-US" b="true" sz="4400">
                <a:solidFill>
                  <a:srgbClr val="E8930C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375</a:t>
            </a:r>
            <a:r>
              <a:rPr lang="en-US" b="true" sz="4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  <a:p>
            <a:pPr algn="l">
              <a:lnSpc>
                <a:spcPts val="2235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participantespara que el costodelaVR</a:t>
            </a: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se iguale</a:t>
            </a: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al delaula.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25998" y="2799331"/>
            <a:ext cx="2490083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hasta275%</a:t>
            </a:r>
            <a:r>
              <a:rPr lang="en-US" b="true" sz="15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másseguros</a:t>
            </a:r>
            <a:r>
              <a:rPr lang="en-US" b="true" sz="15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25998" y="3085081"/>
            <a:ext cx="2352704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i="true" spc="1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de</a:t>
            </a:r>
            <a:r>
              <a:rPr lang="en-US" b="true" sz="1500" i="true" spc="1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500" i="true" spc="1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aplicar</a:t>
            </a:r>
            <a:r>
              <a:rPr lang="en-US" b="true" sz="1500" i="true" spc="1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500" i="true" spc="1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lo</a:t>
            </a:r>
            <a:r>
              <a:rPr lang="en-US" b="true" sz="1500" i="true" spc="1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500" i="true" spc="1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aprendido.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5996" y="5348354"/>
            <a:ext cx="1393022" cy="20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Fuente: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(PwC, 2020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1612" y="5563048"/>
            <a:ext cx="35881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Equipo7 · AmbientesVirtuales Inmersivos · 7NM78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75028" y="5563048"/>
            <a:ext cx="143789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824" y="2292315"/>
            <a:ext cx="9546346" cy="6353"/>
            <a:chOff x="0" y="0"/>
            <a:chExt cx="9546349" cy="63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46335" cy="6350"/>
            </a:xfrm>
            <a:custGeom>
              <a:avLst/>
              <a:gdLst/>
              <a:ahLst/>
              <a:cxnLst/>
              <a:rect r="r" b="b" t="t" l="l"/>
              <a:pathLst>
                <a:path h="6350" w="9546335">
                  <a:moveTo>
                    <a:pt x="0" y="0"/>
                  </a:moveTo>
                  <a:lnTo>
                    <a:pt x="9546335" y="0"/>
                  </a:lnTo>
                  <a:lnTo>
                    <a:pt x="9546335" y="635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B9B3D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09321" y="1167679"/>
            <a:ext cx="9673352" cy="510940"/>
            <a:chOff x="0" y="0"/>
            <a:chExt cx="9673349" cy="5109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6675" y="63500"/>
              <a:ext cx="2120011" cy="380748"/>
            </a:xfrm>
            <a:custGeom>
              <a:avLst/>
              <a:gdLst/>
              <a:ahLst/>
              <a:cxnLst/>
              <a:rect r="r" b="b" t="t" l="l"/>
              <a:pathLst>
                <a:path h="380748" w="2120011">
                  <a:moveTo>
                    <a:pt x="0" y="0"/>
                  </a:moveTo>
                  <a:lnTo>
                    <a:pt x="2120011" y="0"/>
                  </a:lnTo>
                  <a:lnTo>
                    <a:pt x="2120011" y="380749"/>
                  </a:lnTo>
                  <a:lnTo>
                    <a:pt x="0" y="380749"/>
                  </a:lnTo>
                  <a:close/>
                </a:path>
              </a:pathLst>
            </a:custGeom>
            <a:solidFill>
              <a:srgbClr val="1A1433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2186686" y="63500"/>
              <a:ext cx="5088000" cy="380748"/>
            </a:xfrm>
            <a:custGeom>
              <a:avLst/>
              <a:gdLst/>
              <a:ahLst/>
              <a:cxnLst/>
              <a:rect r="r" b="b" t="t" l="l"/>
              <a:pathLst>
                <a:path h="380748" w="5088000">
                  <a:moveTo>
                    <a:pt x="0" y="0"/>
                  </a:moveTo>
                  <a:lnTo>
                    <a:pt x="5088000" y="0"/>
                  </a:lnTo>
                  <a:lnTo>
                    <a:pt x="5088000" y="380749"/>
                  </a:lnTo>
                  <a:lnTo>
                    <a:pt x="0" y="380749"/>
                  </a:lnTo>
                  <a:close/>
                </a:path>
              </a:pathLst>
            </a:custGeom>
            <a:solidFill>
              <a:srgbClr val="1A1433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7274686" y="63500"/>
              <a:ext cx="2331974" cy="380748"/>
            </a:xfrm>
            <a:custGeom>
              <a:avLst/>
              <a:gdLst/>
              <a:ahLst/>
              <a:cxnLst/>
              <a:rect r="r" b="b" t="t" l="l"/>
              <a:pathLst>
                <a:path h="380748" w="2331974">
                  <a:moveTo>
                    <a:pt x="0" y="0"/>
                  </a:moveTo>
                  <a:lnTo>
                    <a:pt x="2331974" y="0"/>
                  </a:lnTo>
                  <a:lnTo>
                    <a:pt x="2331974" y="380749"/>
                  </a:lnTo>
                  <a:lnTo>
                    <a:pt x="0" y="380749"/>
                  </a:lnTo>
                  <a:close/>
                </a:path>
              </a:pathLst>
            </a:custGeom>
            <a:solidFill>
              <a:srgbClr val="1A1433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441074"/>
              <a:ext cx="9546335" cy="6350"/>
            </a:xfrm>
            <a:custGeom>
              <a:avLst/>
              <a:gdLst/>
              <a:ahLst/>
              <a:cxnLst/>
              <a:rect r="r" b="b" t="t" l="l"/>
              <a:pathLst>
                <a:path h="6350" w="9546335">
                  <a:moveTo>
                    <a:pt x="0" y="0"/>
                  </a:moveTo>
                  <a:lnTo>
                    <a:pt x="9546335" y="0"/>
                  </a:lnTo>
                  <a:lnTo>
                    <a:pt x="9546335" y="635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B9B3D9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7891996" y="2522172"/>
            <a:ext cx="1473070" cy="230172"/>
            <a:chOff x="0" y="0"/>
            <a:chExt cx="1473073" cy="2301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73075" cy="230125"/>
            </a:xfrm>
            <a:custGeom>
              <a:avLst/>
              <a:gdLst/>
              <a:ahLst/>
              <a:cxnLst/>
              <a:rect r="r" b="b" t="t" l="l"/>
              <a:pathLst>
                <a:path h="230125" w="1473075">
                  <a:moveTo>
                    <a:pt x="0" y="115062"/>
                  </a:moveTo>
                  <a:cubicBezTo>
                    <a:pt x="0" y="51562"/>
                    <a:pt x="51562" y="0"/>
                    <a:pt x="115062" y="0"/>
                  </a:cubicBezTo>
                  <a:lnTo>
                    <a:pt x="1358013" y="0"/>
                  </a:lnTo>
                  <a:cubicBezTo>
                    <a:pt x="1421513" y="0"/>
                    <a:pt x="1473075" y="51562"/>
                    <a:pt x="1473075" y="115062"/>
                  </a:cubicBezTo>
                  <a:cubicBezTo>
                    <a:pt x="1473075" y="178563"/>
                    <a:pt x="1421513" y="230125"/>
                    <a:pt x="1358013" y="230125"/>
                  </a:cubicBezTo>
                  <a:lnTo>
                    <a:pt x="115062" y="230125"/>
                  </a:lnTo>
                  <a:cubicBezTo>
                    <a:pt x="51562" y="230125"/>
                    <a:pt x="0" y="178563"/>
                    <a:pt x="0" y="115062"/>
                  </a:cubicBezTo>
                  <a:close/>
                </a:path>
              </a:pathLst>
            </a:custGeom>
            <a:solidFill>
              <a:srgbClr val="E8930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09321" y="2912345"/>
            <a:ext cx="9673352" cy="1857270"/>
            <a:chOff x="0" y="0"/>
            <a:chExt cx="9673349" cy="185727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9546335" cy="6350"/>
            </a:xfrm>
            <a:custGeom>
              <a:avLst/>
              <a:gdLst/>
              <a:ahLst/>
              <a:cxnLst/>
              <a:rect r="r" b="b" t="t" l="l"/>
              <a:pathLst>
                <a:path h="6350" w="9546335">
                  <a:moveTo>
                    <a:pt x="0" y="0"/>
                  </a:moveTo>
                  <a:lnTo>
                    <a:pt x="9546335" y="0"/>
                  </a:lnTo>
                  <a:lnTo>
                    <a:pt x="9546335" y="635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B9B3D9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524130"/>
              <a:ext cx="9546335" cy="6350"/>
            </a:xfrm>
            <a:custGeom>
              <a:avLst/>
              <a:gdLst/>
              <a:ahLst/>
              <a:cxnLst/>
              <a:rect r="r" b="b" t="t" l="l"/>
              <a:pathLst>
                <a:path h="6350" w="9546335">
                  <a:moveTo>
                    <a:pt x="0" y="0"/>
                  </a:moveTo>
                  <a:lnTo>
                    <a:pt x="9546335" y="0"/>
                  </a:lnTo>
                  <a:lnTo>
                    <a:pt x="9546335" y="635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B9B3D9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984632"/>
              <a:ext cx="9546335" cy="6350"/>
            </a:xfrm>
            <a:custGeom>
              <a:avLst/>
              <a:gdLst/>
              <a:ahLst/>
              <a:cxnLst/>
              <a:rect r="r" b="b" t="t" l="l"/>
              <a:pathLst>
                <a:path h="6350" w="9546335">
                  <a:moveTo>
                    <a:pt x="0" y="0"/>
                  </a:moveTo>
                  <a:lnTo>
                    <a:pt x="9546335" y="0"/>
                  </a:lnTo>
                  <a:lnTo>
                    <a:pt x="9546335" y="635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B9B3D9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500" y="1445262"/>
              <a:ext cx="9546335" cy="6350"/>
            </a:xfrm>
            <a:custGeom>
              <a:avLst/>
              <a:gdLst/>
              <a:ahLst/>
              <a:cxnLst/>
              <a:rect r="r" b="b" t="t" l="l"/>
              <a:pathLst>
                <a:path h="6350" w="9546335">
                  <a:moveTo>
                    <a:pt x="0" y="0"/>
                  </a:moveTo>
                  <a:lnTo>
                    <a:pt x="9546335" y="0"/>
                  </a:lnTo>
                  <a:lnTo>
                    <a:pt x="9546335" y="635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B9B3D9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382636" y="181864"/>
              <a:ext cx="1938020" cy="230124"/>
            </a:xfrm>
            <a:custGeom>
              <a:avLst/>
              <a:gdLst/>
              <a:ahLst/>
              <a:cxnLst/>
              <a:rect r="r" b="b" t="t" l="l"/>
              <a:pathLst>
                <a:path h="230124" w="1938020">
                  <a:moveTo>
                    <a:pt x="0" y="115062"/>
                  </a:moveTo>
                  <a:cubicBezTo>
                    <a:pt x="0" y="51562"/>
                    <a:pt x="51562" y="0"/>
                    <a:pt x="115062" y="0"/>
                  </a:cubicBezTo>
                  <a:lnTo>
                    <a:pt x="1822958" y="0"/>
                  </a:lnTo>
                  <a:cubicBezTo>
                    <a:pt x="1886458" y="0"/>
                    <a:pt x="1938020" y="51562"/>
                    <a:pt x="1938020" y="115062"/>
                  </a:cubicBezTo>
                  <a:cubicBezTo>
                    <a:pt x="1938020" y="178562"/>
                    <a:pt x="1886458" y="230124"/>
                    <a:pt x="1822958" y="230124"/>
                  </a:cubicBezTo>
                  <a:lnTo>
                    <a:pt x="115062" y="230124"/>
                  </a:lnTo>
                  <a:cubicBezTo>
                    <a:pt x="51562" y="230124"/>
                    <a:pt x="0" y="178562"/>
                    <a:pt x="0" y="115062"/>
                  </a:cubicBezTo>
                  <a:close/>
                </a:path>
              </a:pathLst>
            </a:custGeom>
            <a:solidFill>
              <a:srgbClr val="E8930C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382636" y="642494"/>
              <a:ext cx="1464310" cy="230124"/>
            </a:xfrm>
            <a:custGeom>
              <a:avLst/>
              <a:gdLst/>
              <a:ahLst/>
              <a:cxnLst/>
              <a:rect r="r" b="b" t="t" l="l"/>
              <a:pathLst>
                <a:path h="230124" w="1464310">
                  <a:moveTo>
                    <a:pt x="0" y="115062"/>
                  </a:moveTo>
                  <a:cubicBezTo>
                    <a:pt x="0" y="51562"/>
                    <a:pt x="51562" y="0"/>
                    <a:pt x="115062" y="0"/>
                  </a:cubicBezTo>
                  <a:lnTo>
                    <a:pt x="1349248" y="0"/>
                  </a:lnTo>
                  <a:cubicBezTo>
                    <a:pt x="1412748" y="0"/>
                    <a:pt x="1464310" y="51562"/>
                    <a:pt x="1464310" y="115062"/>
                  </a:cubicBezTo>
                  <a:cubicBezTo>
                    <a:pt x="1464310" y="178562"/>
                    <a:pt x="1412748" y="230124"/>
                    <a:pt x="1349248" y="230124"/>
                  </a:cubicBezTo>
                  <a:lnTo>
                    <a:pt x="115062" y="230124"/>
                  </a:lnTo>
                  <a:cubicBezTo>
                    <a:pt x="51562" y="230124"/>
                    <a:pt x="0" y="178562"/>
                    <a:pt x="0" y="115062"/>
                  </a:cubicBezTo>
                  <a:close/>
                </a:path>
              </a:pathLst>
            </a:custGeom>
            <a:solidFill>
              <a:srgbClr val="00A39A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382636" y="1102996"/>
              <a:ext cx="1690878" cy="230124"/>
            </a:xfrm>
            <a:custGeom>
              <a:avLst/>
              <a:gdLst/>
              <a:ahLst/>
              <a:cxnLst/>
              <a:rect r="r" b="b" t="t" l="l"/>
              <a:pathLst>
                <a:path h="230124" w="1690878">
                  <a:moveTo>
                    <a:pt x="0" y="115062"/>
                  </a:moveTo>
                  <a:cubicBezTo>
                    <a:pt x="0" y="51562"/>
                    <a:pt x="51562" y="0"/>
                    <a:pt x="115062" y="0"/>
                  </a:cubicBezTo>
                  <a:lnTo>
                    <a:pt x="1575816" y="0"/>
                  </a:lnTo>
                  <a:cubicBezTo>
                    <a:pt x="1639316" y="0"/>
                    <a:pt x="1690878" y="51562"/>
                    <a:pt x="1690878" y="115062"/>
                  </a:cubicBezTo>
                  <a:cubicBezTo>
                    <a:pt x="1690878" y="178563"/>
                    <a:pt x="1639316" y="230125"/>
                    <a:pt x="1575816" y="230125"/>
                  </a:cubicBezTo>
                  <a:lnTo>
                    <a:pt x="115062" y="230125"/>
                  </a:lnTo>
                  <a:cubicBezTo>
                    <a:pt x="51562" y="230125"/>
                    <a:pt x="0" y="178563"/>
                    <a:pt x="0" y="115062"/>
                  </a:cubicBezTo>
                  <a:close/>
                </a:path>
              </a:pathLst>
            </a:custGeom>
            <a:solidFill>
              <a:srgbClr val="E5484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7382636" y="1563626"/>
              <a:ext cx="1464310" cy="230124"/>
            </a:xfrm>
            <a:custGeom>
              <a:avLst/>
              <a:gdLst/>
              <a:ahLst/>
              <a:cxnLst/>
              <a:rect r="r" b="b" t="t" l="l"/>
              <a:pathLst>
                <a:path h="230124" w="1464310">
                  <a:moveTo>
                    <a:pt x="0" y="115062"/>
                  </a:moveTo>
                  <a:cubicBezTo>
                    <a:pt x="0" y="51562"/>
                    <a:pt x="51562" y="0"/>
                    <a:pt x="115062" y="0"/>
                  </a:cubicBezTo>
                  <a:lnTo>
                    <a:pt x="1349248" y="0"/>
                  </a:lnTo>
                  <a:cubicBezTo>
                    <a:pt x="1412748" y="0"/>
                    <a:pt x="1464310" y="51562"/>
                    <a:pt x="1464310" y="115062"/>
                  </a:cubicBezTo>
                  <a:cubicBezTo>
                    <a:pt x="1464310" y="178562"/>
                    <a:pt x="1412748" y="230124"/>
                    <a:pt x="1349248" y="230124"/>
                  </a:cubicBezTo>
                  <a:lnTo>
                    <a:pt x="115062" y="230124"/>
                  </a:lnTo>
                  <a:cubicBezTo>
                    <a:pt x="51562" y="230124"/>
                    <a:pt x="0" y="178562"/>
                    <a:pt x="0" y="115062"/>
                  </a:cubicBezTo>
                  <a:close/>
                </a:path>
              </a:pathLst>
            </a:custGeom>
            <a:solidFill>
              <a:srgbClr val="00A39A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891996" y="1838630"/>
            <a:ext cx="1331747" cy="230172"/>
            <a:chOff x="0" y="0"/>
            <a:chExt cx="1331747" cy="23017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1724" cy="230125"/>
            </a:xfrm>
            <a:custGeom>
              <a:avLst/>
              <a:gdLst/>
              <a:ahLst/>
              <a:cxnLst/>
              <a:rect r="r" b="b" t="t" l="l"/>
              <a:pathLst>
                <a:path h="230125" w="1331724">
                  <a:moveTo>
                    <a:pt x="0" y="115062"/>
                  </a:moveTo>
                  <a:cubicBezTo>
                    <a:pt x="0" y="51562"/>
                    <a:pt x="51562" y="0"/>
                    <a:pt x="115062" y="0"/>
                  </a:cubicBezTo>
                  <a:lnTo>
                    <a:pt x="1216661" y="0"/>
                  </a:lnTo>
                  <a:cubicBezTo>
                    <a:pt x="1280161" y="0"/>
                    <a:pt x="1331724" y="51562"/>
                    <a:pt x="1331724" y="115062"/>
                  </a:cubicBezTo>
                  <a:cubicBezTo>
                    <a:pt x="1331724" y="178563"/>
                    <a:pt x="1280161" y="230125"/>
                    <a:pt x="1216661" y="230125"/>
                  </a:cubicBezTo>
                  <a:lnTo>
                    <a:pt x="115062" y="230125"/>
                  </a:lnTo>
                  <a:cubicBezTo>
                    <a:pt x="51562" y="230125"/>
                    <a:pt x="0" y="178563"/>
                    <a:pt x="0" y="115062"/>
                  </a:cubicBezTo>
                  <a:close/>
                </a:path>
              </a:pathLst>
            </a:custGeom>
            <a:solidFill>
              <a:srgbClr val="5F5A73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75996" y="322412"/>
            <a:ext cx="5626751" cy="5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Comparativa de expectativas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4000" y="1261824"/>
            <a:ext cx="852478" cy="30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Enfoque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84000" y="1796015"/>
            <a:ext cx="1211247" cy="30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Académico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4000" y="2479548"/>
            <a:ext cx="1073420" cy="30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Comercial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4000" y="2918250"/>
            <a:ext cx="1219333" cy="1815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7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Indus</a:t>
            </a:r>
            <a:r>
              <a:rPr lang="en-US" b="true" sz="1599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tr</a:t>
            </a:r>
            <a:r>
              <a:rPr lang="en-US" b="true" sz="1599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ial Salud Defensa Cor</a:t>
            </a:r>
            <a:r>
              <a:rPr lang="en-US" b="true" sz="1599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porativo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803998" y="1137999"/>
            <a:ext cx="4895993" cy="359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63"/>
              </a:lnSpc>
            </a:pPr>
            <a:r>
              <a:rPr lang="en-US" b="true" sz="15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Expectativa principal</a:t>
            </a:r>
          </a:p>
          <a:p>
            <a:pPr algn="just">
              <a:lnSpc>
                <a:spcPts val="3563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Aprendizaje práctico y seguro, basado en competencias.</a:t>
            </a:r>
          </a:p>
          <a:p>
            <a:pPr algn="just">
              <a:lnSpc>
                <a:spcPts val="3563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Prueba virtual de productos y lentes de uso </a:t>
            </a:r>
          </a:p>
          <a:p>
            <a:pPr algn="just">
              <a:lnSpc>
                <a:spcPts val="3563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diar</a:t>
            </a:r>
            <a:r>
              <a:rPr lang="en-US" b="true" sz="1599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io.</a:t>
            </a:r>
          </a:p>
          <a:p>
            <a:pPr algn="just">
              <a:lnSpc>
                <a:spcPts val="3563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Gemelos digitales, simulación y soporte remoto. Entrenamiento clínico sin riesgo para pacientes. Información táctica en tiempo real. Capacitación más rápida y medible.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91996" y="1261824"/>
            <a:ext cx="911962" cy="30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Madurez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000000" y="1820951"/>
            <a:ext cx="1138057" cy="24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Exper imental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000000" y="2504494"/>
            <a:ext cx="1282217" cy="24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En crecimiento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000000" y="3076546"/>
            <a:ext cx="1756429" cy="24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Adopción temprana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00000" y="3537118"/>
            <a:ext cx="1273283" cy="24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Con evidencia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000000" y="3997690"/>
            <a:ext cx="1504331" cy="24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Reorganizándose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00000" y="4458272"/>
            <a:ext cx="1273283" cy="24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b="true" sz="12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Con evidencia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 7 · Ambientes Virtuales Inmersivos · 7NM78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75028" y="5563048"/>
            <a:ext cx="143789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2502" y="1167679"/>
            <a:ext cx="3162995" cy="1783004"/>
            <a:chOff x="0" y="0"/>
            <a:chExt cx="3162998" cy="17830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3036060" cy="1655957"/>
            </a:xfrm>
            <a:custGeom>
              <a:avLst/>
              <a:gdLst/>
              <a:ahLst/>
              <a:cxnLst/>
              <a:rect r="r" b="b" t="t" l="l"/>
              <a:pathLst>
                <a:path h="1655957" w="303606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0" y="0"/>
                  </a:lnTo>
                  <a:cubicBezTo>
                    <a:pt x="2979164" y="0"/>
                    <a:pt x="3036060" y="56896"/>
                    <a:pt x="3036060" y="127000"/>
                  </a:cubicBezTo>
                  <a:lnTo>
                    <a:pt x="3036060" y="1528956"/>
                  </a:lnTo>
                  <a:cubicBezTo>
                    <a:pt x="3036060" y="1599061"/>
                    <a:pt x="2979164" y="1655957"/>
                    <a:pt x="2909060" y="1655957"/>
                  </a:cubicBezTo>
                  <a:lnTo>
                    <a:pt x="127000" y="1655957"/>
                  </a:lnTo>
                  <a:cubicBezTo>
                    <a:pt x="56896" y="1655957"/>
                    <a:pt x="0" y="1599061"/>
                    <a:pt x="0" y="1528956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61493" y="261494"/>
              <a:ext cx="359918" cy="359919"/>
            </a:xfrm>
            <a:custGeom>
              <a:avLst/>
              <a:gdLst/>
              <a:ahLst/>
              <a:cxnLst/>
              <a:rect r="r" b="b" t="t" l="l"/>
              <a:pathLst>
                <a:path h="359919" w="359918">
                  <a:moveTo>
                    <a:pt x="0" y="179959"/>
                  </a:moveTo>
                  <a:cubicBezTo>
                    <a:pt x="0" y="80645"/>
                    <a:pt x="80645" y="0"/>
                    <a:pt x="179959" y="0"/>
                  </a:cubicBezTo>
                  <a:cubicBezTo>
                    <a:pt x="279273" y="0"/>
                    <a:pt x="359918" y="80645"/>
                    <a:pt x="359918" y="179959"/>
                  </a:cubicBezTo>
                  <a:cubicBezTo>
                    <a:pt x="359918" y="279273"/>
                    <a:pt x="279273" y="359918"/>
                    <a:pt x="179959" y="359918"/>
                  </a:cubicBezTo>
                  <a:cubicBezTo>
                    <a:pt x="80645" y="359918"/>
                    <a:pt x="0" y="279273"/>
                    <a:pt x="0" y="179959"/>
                  </a:cubicBezTo>
                </a:path>
              </a:pathLst>
            </a:custGeom>
            <a:solidFill>
              <a:srgbClr val="E5484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12502" y="3003680"/>
            <a:ext cx="3162995" cy="1783004"/>
            <a:chOff x="0" y="0"/>
            <a:chExt cx="3162998" cy="17830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3036060" cy="1655957"/>
            </a:xfrm>
            <a:custGeom>
              <a:avLst/>
              <a:gdLst/>
              <a:ahLst/>
              <a:cxnLst/>
              <a:rect r="r" b="b" t="t" l="l"/>
              <a:pathLst>
                <a:path h="1655957" w="303606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0" y="0"/>
                  </a:lnTo>
                  <a:cubicBezTo>
                    <a:pt x="2979164" y="0"/>
                    <a:pt x="3036060" y="56896"/>
                    <a:pt x="3036060" y="127000"/>
                  </a:cubicBezTo>
                  <a:lnTo>
                    <a:pt x="3036060" y="1528956"/>
                  </a:lnTo>
                  <a:cubicBezTo>
                    <a:pt x="3036060" y="1599061"/>
                    <a:pt x="2979164" y="1655957"/>
                    <a:pt x="2909060" y="1655957"/>
                  </a:cubicBezTo>
                  <a:lnTo>
                    <a:pt x="127000" y="1655957"/>
                  </a:lnTo>
                  <a:cubicBezTo>
                    <a:pt x="56896" y="1655957"/>
                    <a:pt x="0" y="1599061"/>
                    <a:pt x="0" y="1528956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1493" y="261494"/>
              <a:ext cx="359918" cy="359919"/>
            </a:xfrm>
            <a:custGeom>
              <a:avLst/>
              <a:gdLst/>
              <a:ahLst/>
              <a:cxnLst/>
              <a:rect r="r" b="b" t="t" l="l"/>
              <a:pathLst>
                <a:path h="359919" w="359918">
                  <a:moveTo>
                    <a:pt x="0" y="179959"/>
                  </a:moveTo>
                  <a:cubicBezTo>
                    <a:pt x="0" y="80645"/>
                    <a:pt x="80645" y="0"/>
                    <a:pt x="179959" y="0"/>
                  </a:cubicBezTo>
                  <a:cubicBezTo>
                    <a:pt x="279273" y="0"/>
                    <a:pt x="359918" y="80645"/>
                    <a:pt x="359918" y="179959"/>
                  </a:cubicBezTo>
                  <a:cubicBezTo>
                    <a:pt x="359918" y="279273"/>
                    <a:pt x="279273" y="359918"/>
                    <a:pt x="179959" y="359918"/>
                  </a:cubicBezTo>
                  <a:cubicBezTo>
                    <a:pt x="80645" y="359918"/>
                    <a:pt x="0" y="279273"/>
                    <a:pt x="0" y="179959"/>
                  </a:cubicBezTo>
                </a:path>
              </a:pathLst>
            </a:custGeom>
            <a:solidFill>
              <a:srgbClr val="E5484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3764499" y="1167679"/>
            <a:ext cx="3162995" cy="1783004"/>
            <a:chOff x="0" y="0"/>
            <a:chExt cx="3162998" cy="17830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3036061" cy="1655957"/>
            </a:xfrm>
            <a:custGeom>
              <a:avLst/>
              <a:gdLst/>
              <a:ahLst/>
              <a:cxnLst/>
              <a:rect r="r" b="b" t="t" l="l"/>
              <a:pathLst>
                <a:path h="1655957" w="303606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1" y="0"/>
                  </a:lnTo>
                  <a:cubicBezTo>
                    <a:pt x="2979165" y="0"/>
                    <a:pt x="3036061" y="56896"/>
                    <a:pt x="3036061" y="127000"/>
                  </a:cubicBezTo>
                  <a:lnTo>
                    <a:pt x="3036061" y="1528956"/>
                  </a:lnTo>
                  <a:cubicBezTo>
                    <a:pt x="3036061" y="1599061"/>
                    <a:pt x="2979165" y="1655957"/>
                    <a:pt x="2909061" y="1655957"/>
                  </a:cubicBezTo>
                  <a:lnTo>
                    <a:pt x="127000" y="1655957"/>
                  </a:lnTo>
                  <a:cubicBezTo>
                    <a:pt x="56896" y="1655957"/>
                    <a:pt x="0" y="1599061"/>
                    <a:pt x="0" y="1528956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61493" y="261494"/>
              <a:ext cx="359918" cy="359919"/>
            </a:xfrm>
            <a:custGeom>
              <a:avLst/>
              <a:gdLst/>
              <a:ahLst/>
              <a:cxnLst/>
              <a:rect r="r" b="b" t="t" l="l"/>
              <a:pathLst>
                <a:path h="359919" w="359918">
                  <a:moveTo>
                    <a:pt x="0" y="179959"/>
                  </a:moveTo>
                  <a:cubicBezTo>
                    <a:pt x="0" y="80645"/>
                    <a:pt x="80645" y="0"/>
                    <a:pt x="179959" y="0"/>
                  </a:cubicBezTo>
                  <a:cubicBezTo>
                    <a:pt x="279273" y="0"/>
                    <a:pt x="359918" y="80645"/>
                    <a:pt x="359918" y="179959"/>
                  </a:cubicBezTo>
                  <a:cubicBezTo>
                    <a:pt x="359918" y="279273"/>
                    <a:pt x="279273" y="359918"/>
                    <a:pt x="179959" y="359918"/>
                  </a:cubicBezTo>
                  <a:cubicBezTo>
                    <a:pt x="80645" y="359918"/>
                    <a:pt x="0" y="279273"/>
                    <a:pt x="0" y="179959"/>
                  </a:cubicBezTo>
                </a:path>
              </a:pathLst>
            </a:custGeom>
            <a:solidFill>
              <a:srgbClr val="E8930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764499" y="3003680"/>
            <a:ext cx="3162995" cy="1783004"/>
            <a:chOff x="0" y="0"/>
            <a:chExt cx="3162998" cy="17830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0" y="63500"/>
              <a:ext cx="3036061" cy="1655957"/>
            </a:xfrm>
            <a:custGeom>
              <a:avLst/>
              <a:gdLst/>
              <a:ahLst/>
              <a:cxnLst/>
              <a:rect r="r" b="b" t="t" l="l"/>
              <a:pathLst>
                <a:path h="1655957" w="303606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1" y="0"/>
                  </a:lnTo>
                  <a:cubicBezTo>
                    <a:pt x="2979165" y="0"/>
                    <a:pt x="3036061" y="56896"/>
                    <a:pt x="3036061" y="127000"/>
                  </a:cubicBezTo>
                  <a:lnTo>
                    <a:pt x="3036061" y="1528956"/>
                  </a:lnTo>
                  <a:cubicBezTo>
                    <a:pt x="3036061" y="1599061"/>
                    <a:pt x="2979165" y="1655957"/>
                    <a:pt x="2909061" y="1655957"/>
                  </a:cubicBezTo>
                  <a:lnTo>
                    <a:pt x="127000" y="1655957"/>
                  </a:lnTo>
                  <a:cubicBezTo>
                    <a:pt x="56896" y="1655957"/>
                    <a:pt x="0" y="1599061"/>
                    <a:pt x="0" y="1528956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261493" y="261494"/>
              <a:ext cx="359918" cy="359919"/>
            </a:xfrm>
            <a:custGeom>
              <a:avLst/>
              <a:gdLst/>
              <a:ahLst/>
              <a:cxnLst/>
              <a:rect r="r" b="b" t="t" l="l"/>
              <a:pathLst>
                <a:path h="359919" w="359918">
                  <a:moveTo>
                    <a:pt x="0" y="179959"/>
                  </a:moveTo>
                  <a:cubicBezTo>
                    <a:pt x="0" y="80645"/>
                    <a:pt x="80645" y="0"/>
                    <a:pt x="179959" y="0"/>
                  </a:cubicBezTo>
                  <a:cubicBezTo>
                    <a:pt x="279273" y="0"/>
                    <a:pt x="359918" y="80645"/>
                    <a:pt x="359918" y="179959"/>
                  </a:cubicBezTo>
                  <a:cubicBezTo>
                    <a:pt x="359918" y="279273"/>
                    <a:pt x="279273" y="359918"/>
                    <a:pt x="179959" y="359918"/>
                  </a:cubicBezTo>
                  <a:cubicBezTo>
                    <a:pt x="80645" y="359918"/>
                    <a:pt x="0" y="279273"/>
                    <a:pt x="0" y="179959"/>
                  </a:cubicBezTo>
                </a:path>
              </a:pathLst>
            </a:custGeom>
            <a:solidFill>
              <a:srgbClr val="00A39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016496" y="1167679"/>
            <a:ext cx="3162995" cy="1783004"/>
            <a:chOff x="0" y="0"/>
            <a:chExt cx="3162998" cy="17830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3036061" cy="1655957"/>
            </a:xfrm>
            <a:custGeom>
              <a:avLst/>
              <a:gdLst/>
              <a:ahLst/>
              <a:cxnLst/>
              <a:rect r="r" b="b" t="t" l="l"/>
              <a:pathLst>
                <a:path h="1655957" w="303606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1" y="0"/>
                  </a:lnTo>
                  <a:cubicBezTo>
                    <a:pt x="2979165" y="0"/>
                    <a:pt x="3036061" y="56896"/>
                    <a:pt x="3036061" y="127000"/>
                  </a:cubicBezTo>
                  <a:lnTo>
                    <a:pt x="3036061" y="1528956"/>
                  </a:lnTo>
                  <a:cubicBezTo>
                    <a:pt x="3036061" y="1599061"/>
                    <a:pt x="2979165" y="1655957"/>
                    <a:pt x="2909061" y="1655957"/>
                  </a:cubicBezTo>
                  <a:lnTo>
                    <a:pt x="127000" y="1655957"/>
                  </a:lnTo>
                  <a:cubicBezTo>
                    <a:pt x="56896" y="1655957"/>
                    <a:pt x="0" y="1599061"/>
                    <a:pt x="0" y="1528956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61493" y="261494"/>
              <a:ext cx="359918" cy="359919"/>
            </a:xfrm>
            <a:custGeom>
              <a:avLst/>
              <a:gdLst/>
              <a:ahLst/>
              <a:cxnLst/>
              <a:rect r="r" b="b" t="t" l="l"/>
              <a:pathLst>
                <a:path h="359919" w="359918">
                  <a:moveTo>
                    <a:pt x="0" y="179959"/>
                  </a:moveTo>
                  <a:cubicBezTo>
                    <a:pt x="0" y="80645"/>
                    <a:pt x="80645" y="0"/>
                    <a:pt x="179959" y="0"/>
                  </a:cubicBezTo>
                  <a:cubicBezTo>
                    <a:pt x="279273" y="0"/>
                    <a:pt x="359918" y="80645"/>
                    <a:pt x="359918" y="179959"/>
                  </a:cubicBezTo>
                  <a:cubicBezTo>
                    <a:pt x="359918" y="279273"/>
                    <a:pt x="279273" y="359918"/>
                    <a:pt x="179959" y="359918"/>
                  </a:cubicBezTo>
                  <a:cubicBezTo>
                    <a:pt x="80645" y="359918"/>
                    <a:pt x="0" y="279273"/>
                    <a:pt x="0" y="179959"/>
                  </a:cubicBezTo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016496" y="3003680"/>
            <a:ext cx="3162995" cy="1783004"/>
            <a:chOff x="0" y="0"/>
            <a:chExt cx="3162998" cy="17830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0" y="63500"/>
              <a:ext cx="3036061" cy="1655957"/>
            </a:xfrm>
            <a:custGeom>
              <a:avLst/>
              <a:gdLst/>
              <a:ahLst/>
              <a:cxnLst/>
              <a:rect r="r" b="b" t="t" l="l"/>
              <a:pathLst>
                <a:path h="1655957" w="3036061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2909061" y="0"/>
                  </a:lnTo>
                  <a:cubicBezTo>
                    <a:pt x="2979165" y="0"/>
                    <a:pt x="3036061" y="56896"/>
                    <a:pt x="3036061" y="127000"/>
                  </a:cubicBezTo>
                  <a:lnTo>
                    <a:pt x="3036061" y="1528956"/>
                  </a:lnTo>
                  <a:cubicBezTo>
                    <a:pt x="3036061" y="1599061"/>
                    <a:pt x="2979165" y="1655957"/>
                    <a:pt x="2909061" y="1655957"/>
                  </a:cubicBezTo>
                  <a:lnTo>
                    <a:pt x="127000" y="1655957"/>
                  </a:lnTo>
                  <a:cubicBezTo>
                    <a:pt x="56896" y="1655957"/>
                    <a:pt x="0" y="1599061"/>
                    <a:pt x="0" y="1528956"/>
                  </a:cubicBezTo>
                  <a:close/>
                </a:path>
              </a:pathLst>
            </a:custGeom>
            <a:solidFill>
              <a:srgbClr val="EEEAFB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61493" y="261494"/>
              <a:ext cx="359918" cy="359919"/>
            </a:xfrm>
            <a:custGeom>
              <a:avLst/>
              <a:gdLst/>
              <a:ahLst/>
              <a:cxnLst/>
              <a:rect r="r" b="b" t="t" l="l"/>
              <a:pathLst>
                <a:path h="359919" w="359918">
                  <a:moveTo>
                    <a:pt x="0" y="179959"/>
                  </a:moveTo>
                  <a:cubicBezTo>
                    <a:pt x="0" y="80645"/>
                    <a:pt x="80645" y="0"/>
                    <a:pt x="179959" y="0"/>
                  </a:cubicBezTo>
                  <a:cubicBezTo>
                    <a:pt x="279273" y="0"/>
                    <a:pt x="359918" y="80645"/>
                    <a:pt x="359918" y="179959"/>
                  </a:cubicBezTo>
                  <a:cubicBezTo>
                    <a:pt x="359918" y="279273"/>
                    <a:pt x="279273" y="359918"/>
                    <a:pt x="179959" y="359918"/>
                  </a:cubicBezTo>
                  <a:cubicBezTo>
                    <a:pt x="80645" y="359918"/>
                    <a:pt x="0" y="279273"/>
                    <a:pt x="0" y="179959"/>
                  </a:cubicBezTo>
                </a:path>
              </a:pathLst>
            </a:custGeom>
            <a:solidFill>
              <a:srgbClr val="5F5A7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75996" y="322412"/>
            <a:ext cx="5552037" cy="5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Retos que frenan la adopción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07275" y="1492310"/>
            <a:ext cx="95307" cy="22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b="true" sz="1190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$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821" y="3328311"/>
            <a:ext cx="51359" cy="22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b="true" sz="1190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!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61244" y="3328311"/>
            <a:ext cx="91297" cy="22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b="true" sz="1190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68273" y="1492310"/>
            <a:ext cx="76962" cy="22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b="true" sz="1190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2003" y="1428283"/>
            <a:ext cx="702783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Costo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42003" y="3264284"/>
            <a:ext cx="1884264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Ciber</a:t>
            </a:r>
            <a:r>
              <a:rPr lang="en-US" b="true" sz="1800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</a:t>
            </a:r>
            <a:r>
              <a:rPr lang="en-US" b="true" sz="18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segur</a:t>
            </a:r>
            <a:r>
              <a:rPr lang="en-US" b="true" sz="1800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</a:t>
            </a:r>
            <a:r>
              <a:rPr lang="en-US" b="true" sz="18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idad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494000" y="1428283"/>
            <a:ext cx="866003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Talento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494000" y="3264284"/>
            <a:ext cx="1171461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Evidencia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45997" y="1428283"/>
            <a:ext cx="138690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Integración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745997" y="3264284"/>
            <a:ext cx="1548727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Rentabilidad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4002" y="1984600"/>
            <a:ext cx="2715806" cy="537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b="true" sz="1400" i="true" spc="1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Principal barrera para el </a:t>
            </a:r>
            <a:r>
              <a:rPr lang="en-US" b="true" sz="1400" spc="1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51 %</a:t>
            </a:r>
            <a:r>
              <a:rPr lang="en-US" b="true" sz="1400" i="true" spc="1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de los ejecutivos.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74002" y="3820601"/>
            <a:ext cx="2560025" cy="802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Riesgo mayor para </a:t>
            </a:r>
            <a:r>
              <a:rPr lang="en-US" b="true" sz="14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más del 70 %</a:t>
            </a: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: capturan video, voz y entor</a:t>
            </a:r>
            <a:r>
              <a:rPr lang="en-US" b="true" sz="14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no.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25998" y="1986382"/>
            <a:ext cx="2425275" cy="53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Faltan perfiles para crear y mantener soluciones.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25998" y="3822383"/>
            <a:ext cx="2696042" cy="800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En educación se mide más la usabilidad que el </a:t>
            </a:r>
          </a:p>
          <a:p>
            <a:pPr algn="l">
              <a:lnSpc>
                <a:spcPts val="2086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a</a:t>
            </a:r>
            <a:r>
              <a:rPr lang="en-US" b="true" sz="14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prendizaje.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277995" y="1986382"/>
            <a:ext cx="2078517" cy="53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Conectar la XR con los sistemas existentes.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277995" y="3822383"/>
            <a:ext cx="2532640" cy="53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b="true" sz="1400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El consumo aún no paga la inversión.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373102" y="1508312"/>
            <a:ext cx="173193" cy="19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b="true" sz="1190" spc="-17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↔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21185" y="3344313"/>
            <a:ext cx="75105" cy="193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66"/>
              </a:lnSpc>
            </a:pPr>
            <a:r>
              <a:rPr lang="en-US" b="true" sz="1190" spc="-17">
                <a:solidFill>
                  <a:srgbClr val="FFFFFF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↓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75996" y="5348354"/>
            <a:ext cx="7643660" cy="20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Fuentes: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(Wellener et al., 2023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);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(Congressional Research Service, 2026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);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(Radianti et al., 2020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); (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Auganix, 2026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1612" y="5563048"/>
            <a:ext cx="35881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Equipo7 · AmbientesVirtualesInmersivos · 7NM78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975028" y="5563048"/>
            <a:ext cx="143789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2502" y="1167679"/>
            <a:ext cx="4753004" cy="3223003"/>
            <a:chOff x="0" y="0"/>
            <a:chExt cx="4753000" cy="32230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4625975" cy="3096012"/>
            </a:xfrm>
            <a:custGeom>
              <a:avLst/>
              <a:gdLst/>
              <a:ahLst/>
              <a:cxnLst/>
              <a:rect r="r" b="b" t="t" l="l"/>
              <a:pathLst>
                <a:path h="3096012" w="4625975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498975" y="0"/>
                  </a:lnTo>
                  <a:cubicBezTo>
                    <a:pt x="4569079" y="0"/>
                    <a:pt x="4625975" y="56896"/>
                    <a:pt x="4625975" y="127000"/>
                  </a:cubicBezTo>
                  <a:lnTo>
                    <a:pt x="4625975" y="2969012"/>
                  </a:lnTo>
                  <a:cubicBezTo>
                    <a:pt x="4625975" y="3039116"/>
                    <a:pt x="4569079" y="3096012"/>
                    <a:pt x="4498975" y="3096012"/>
                  </a:cubicBezTo>
                  <a:lnTo>
                    <a:pt x="127000" y="3096012"/>
                  </a:lnTo>
                  <a:cubicBezTo>
                    <a:pt x="56896" y="3096012"/>
                    <a:pt x="0" y="3039116"/>
                    <a:pt x="0" y="2969012"/>
                  </a:cubicBezTo>
                  <a:close/>
                </a:path>
              </a:pathLst>
            </a:custGeom>
            <a:solidFill>
              <a:srgbClr val="D9F1F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61493" y="261493"/>
              <a:ext cx="468122" cy="468123"/>
            </a:xfrm>
            <a:custGeom>
              <a:avLst/>
              <a:gdLst/>
              <a:ahLst/>
              <a:cxnLst/>
              <a:rect r="r" b="b" t="t" l="l"/>
              <a:pathLst>
                <a:path h="468123" w="468122">
                  <a:moveTo>
                    <a:pt x="0" y="234062"/>
                  </a:moveTo>
                  <a:cubicBezTo>
                    <a:pt x="0" y="104903"/>
                    <a:pt x="104902" y="0"/>
                    <a:pt x="234061" y="0"/>
                  </a:cubicBezTo>
                  <a:cubicBezTo>
                    <a:pt x="363220" y="0"/>
                    <a:pt x="468122" y="104903"/>
                    <a:pt x="468122" y="234062"/>
                  </a:cubicBezTo>
                  <a:cubicBezTo>
                    <a:pt x="468122" y="363221"/>
                    <a:pt x="363220" y="468123"/>
                    <a:pt x="234061" y="468123"/>
                  </a:cubicBezTo>
                  <a:cubicBezTo>
                    <a:pt x="104902" y="468123"/>
                    <a:pt x="0" y="363221"/>
                    <a:pt x="0" y="234062"/>
                  </a:cubicBezTo>
                </a:path>
              </a:pathLst>
            </a:custGeom>
            <a:solidFill>
              <a:srgbClr val="00A39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26497" y="1167679"/>
            <a:ext cx="4753004" cy="3223003"/>
            <a:chOff x="0" y="0"/>
            <a:chExt cx="4753000" cy="32230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4625975" cy="3096012"/>
            </a:xfrm>
            <a:custGeom>
              <a:avLst/>
              <a:gdLst/>
              <a:ahLst/>
              <a:cxnLst/>
              <a:rect r="r" b="b" t="t" l="l"/>
              <a:pathLst>
                <a:path h="3096012" w="4625975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498975" y="0"/>
                  </a:lnTo>
                  <a:cubicBezTo>
                    <a:pt x="4569079" y="0"/>
                    <a:pt x="4625975" y="56896"/>
                    <a:pt x="4625975" y="127000"/>
                  </a:cubicBezTo>
                  <a:lnTo>
                    <a:pt x="4625975" y="2969012"/>
                  </a:lnTo>
                  <a:cubicBezTo>
                    <a:pt x="4625975" y="3039116"/>
                    <a:pt x="4569079" y="3096012"/>
                    <a:pt x="4498975" y="3096012"/>
                  </a:cubicBezTo>
                  <a:lnTo>
                    <a:pt x="127000" y="3096012"/>
                  </a:lnTo>
                  <a:cubicBezTo>
                    <a:pt x="56896" y="3096012"/>
                    <a:pt x="0" y="3039116"/>
                    <a:pt x="0" y="2969012"/>
                  </a:cubicBezTo>
                  <a:close/>
                </a:path>
              </a:pathLst>
            </a:custGeom>
            <a:solidFill>
              <a:srgbClr val="FCE9E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61493" y="261493"/>
              <a:ext cx="468122" cy="468123"/>
            </a:xfrm>
            <a:custGeom>
              <a:avLst/>
              <a:gdLst/>
              <a:ahLst/>
              <a:cxnLst/>
              <a:rect r="r" b="b" t="t" l="l"/>
              <a:pathLst>
                <a:path h="468123" w="468122">
                  <a:moveTo>
                    <a:pt x="0" y="234062"/>
                  </a:moveTo>
                  <a:cubicBezTo>
                    <a:pt x="0" y="104903"/>
                    <a:pt x="104902" y="0"/>
                    <a:pt x="234061" y="0"/>
                  </a:cubicBezTo>
                  <a:cubicBezTo>
                    <a:pt x="363220" y="0"/>
                    <a:pt x="468122" y="104903"/>
                    <a:pt x="468122" y="234062"/>
                  </a:cubicBezTo>
                  <a:cubicBezTo>
                    <a:pt x="468122" y="363221"/>
                    <a:pt x="363220" y="468123"/>
                    <a:pt x="234061" y="468123"/>
                  </a:cubicBezTo>
                  <a:cubicBezTo>
                    <a:pt x="104902" y="468123"/>
                    <a:pt x="0" y="363221"/>
                    <a:pt x="0" y="234062"/>
                  </a:cubicBezTo>
                </a:path>
              </a:pathLst>
            </a:custGeom>
            <a:solidFill>
              <a:srgbClr val="E5484D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75996" y="322412"/>
            <a:ext cx="5815365" cy="5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¿Es la XR una tecnología core?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8458" y="1518133"/>
            <a:ext cx="182670" cy="263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7" spc="-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✓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74002" y="2089709"/>
            <a:ext cx="2054762" cy="37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Ya es core en…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68080" y="2414978"/>
            <a:ext cx="57417" cy="300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87997" y="2089709"/>
            <a:ext cx="2148811" cy="377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1A143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Todavía no en…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55278" y="2440095"/>
            <a:ext cx="116900" cy="509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63"/>
              </a:lnSpc>
            </a:pPr>
            <a:r>
              <a:rPr lang="en-US" b="true" sz="1599">
                <a:solidFill>
                  <a:srgbClr val="7C4DFF"/>
                </a:solidFill>
                <a:latin typeface="Arimo Bold"/>
                <a:ea typeface="Arimo Bold"/>
                <a:cs typeface="Arimo Bold"/>
                <a:sym typeface="Arimo Bold"/>
              </a:rPr>
              <a:t>● ●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69283" y="2440095"/>
            <a:ext cx="116900" cy="77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063"/>
              </a:lnSpc>
            </a:pPr>
            <a:r>
              <a:rPr lang="en-US" b="true" sz="1599">
                <a:solidFill>
                  <a:srgbClr val="7C4DFF"/>
                </a:solidFill>
                <a:latin typeface="Arimo Bold"/>
                <a:ea typeface="Arimo Bold"/>
                <a:cs typeface="Arimo Bold"/>
                <a:sym typeface="Arimo Bold"/>
              </a:rPr>
              <a:t>● ● ●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1486" y="2414978"/>
            <a:ext cx="3292802" cy="865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6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Capacitación</a:t>
            </a:r>
            <a:r>
              <a:rPr lang="en-US" b="true" sz="1599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y</a:t>
            </a:r>
            <a:r>
              <a:rPr lang="en-US" b="true" sz="1599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simulación. Diseño de productos y gemelos digitales</a:t>
            </a:r>
            <a:r>
              <a:rPr lang="en-US" b="true" sz="1599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5278" y="3220288"/>
            <a:ext cx="3984860" cy="343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b="true" sz="1599">
                <a:solidFill>
                  <a:srgbClr val="7C4D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●</a:t>
            </a: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Soporte en campo y mantenimiento.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985481" y="2434028"/>
            <a:ext cx="3458204" cy="805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63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El consumidor general.</a:t>
            </a:r>
          </a:p>
          <a:p>
            <a:pPr algn="l">
              <a:lnSpc>
                <a:spcPts val="2063"/>
              </a:lnSpc>
            </a:pPr>
            <a:r>
              <a:rPr lang="en-US" b="true" sz="1599" i="true">
                <a:solidFill>
                  <a:srgbClr val="1A143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El visor VR como dispositivo diario. La mayoría de las empresas.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74002" y="3649237"/>
            <a:ext cx="4225957" cy="53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b="true" sz="1400" i="true" spc="1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Cuando se capacita a muchas personas o equivocarse en la realidad es caro o peligroso.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687997" y="3346466"/>
            <a:ext cx="3975325" cy="53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b="true" sz="14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La apuesta cambia hacia lentes ligeros con inteligencia artificial.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863028" y="1516009"/>
            <a:ext cx="120291" cy="28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b="true" sz="1547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×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75996" y="5348354"/>
            <a:ext cx="1545488" cy="20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40"/>
              </a:lnSpc>
            </a:pP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Fuente: 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action="ppaction://hlinksldjump"/>
              </a:rPr>
              <a:t>(Ubrani, 2026</a:t>
            </a:r>
            <a:r>
              <a:rPr lang="en-US" b="true" sz="1100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11612" y="5563048"/>
            <a:ext cx="35881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Equipo7 · AmbientesVirtuales Inmersivos · 7NM78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75028" y="5563048"/>
            <a:ext cx="143789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1A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66471" y="2499684"/>
            <a:ext cx="2269046" cy="1072858"/>
            <a:chOff x="0" y="0"/>
            <a:chExt cx="2269045" cy="1072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9105" cy="1072894"/>
            </a:xfrm>
            <a:custGeom>
              <a:avLst/>
              <a:gdLst/>
              <a:ahLst/>
              <a:cxnLst/>
              <a:rect r="r" b="b" t="t" l="l"/>
              <a:pathLst>
                <a:path h="1072894" w="2269105">
                  <a:moveTo>
                    <a:pt x="127000" y="0"/>
                  </a:moveTo>
                  <a:lnTo>
                    <a:pt x="2142105" y="0"/>
                  </a:lnTo>
                  <a:lnTo>
                    <a:pt x="2142105" y="9525"/>
                  </a:lnTo>
                  <a:lnTo>
                    <a:pt x="2142105" y="0"/>
                  </a:lnTo>
                  <a:cubicBezTo>
                    <a:pt x="2212209" y="0"/>
                    <a:pt x="2269105" y="56896"/>
                    <a:pt x="2269105" y="127000"/>
                  </a:cubicBezTo>
                  <a:lnTo>
                    <a:pt x="2259580" y="127000"/>
                  </a:lnTo>
                  <a:lnTo>
                    <a:pt x="2269105" y="127000"/>
                  </a:lnTo>
                  <a:lnTo>
                    <a:pt x="2269105" y="945894"/>
                  </a:lnTo>
                  <a:lnTo>
                    <a:pt x="2259580" y="945894"/>
                  </a:lnTo>
                  <a:lnTo>
                    <a:pt x="2269105" y="945894"/>
                  </a:lnTo>
                  <a:cubicBezTo>
                    <a:pt x="2269105" y="1015998"/>
                    <a:pt x="2212209" y="1072894"/>
                    <a:pt x="2142105" y="1072894"/>
                  </a:cubicBezTo>
                  <a:lnTo>
                    <a:pt x="2142105" y="1063369"/>
                  </a:lnTo>
                  <a:lnTo>
                    <a:pt x="2142105" y="1072894"/>
                  </a:lnTo>
                  <a:lnTo>
                    <a:pt x="127000" y="1072894"/>
                  </a:lnTo>
                  <a:lnTo>
                    <a:pt x="127000" y="1063369"/>
                  </a:lnTo>
                  <a:lnTo>
                    <a:pt x="127000" y="1072894"/>
                  </a:lnTo>
                  <a:cubicBezTo>
                    <a:pt x="56896" y="1072894"/>
                    <a:pt x="0" y="1015998"/>
                    <a:pt x="0" y="945894"/>
                  </a:cubicBezTo>
                  <a:lnTo>
                    <a:pt x="9525" y="945894"/>
                  </a:lnTo>
                  <a:lnTo>
                    <a:pt x="0" y="945894"/>
                  </a:lnTo>
                  <a:lnTo>
                    <a:pt x="0" y="127000"/>
                  </a:lnTo>
                  <a:lnTo>
                    <a:pt x="9525" y="127000"/>
                  </a:ln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lnTo>
                    <a:pt x="127000" y="19050"/>
                  </a:lnTo>
                  <a:cubicBezTo>
                    <a:pt x="67437" y="19050"/>
                    <a:pt x="19050" y="67437"/>
                    <a:pt x="19050" y="127000"/>
                  </a:cubicBezTo>
                  <a:lnTo>
                    <a:pt x="19050" y="945894"/>
                  </a:lnTo>
                  <a:cubicBezTo>
                    <a:pt x="19050" y="1005457"/>
                    <a:pt x="67437" y="1053844"/>
                    <a:pt x="127000" y="1053844"/>
                  </a:cubicBezTo>
                  <a:lnTo>
                    <a:pt x="2142105" y="1053844"/>
                  </a:lnTo>
                  <a:cubicBezTo>
                    <a:pt x="2201668" y="1053844"/>
                    <a:pt x="2250055" y="1005457"/>
                    <a:pt x="2250055" y="945894"/>
                  </a:cubicBezTo>
                  <a:lnTo>
                    <a:pt x="2250055" y="127000"/>
                  </a:lnTo>
                  <a:cubicBezTo>
                    <a:pt x="2250055" y="67437"/>
                    <a:pt x="2201668" y="19050"/>
                    <a:pt x="2142105" y="19050"/>
                  </a:cubicBezTo>
                  <a:lnTo>
                    <a:pt x="127000" y="19050"/>
                  </a:lnTo>
                  <a:close/>
                </a:path>
              </a:pathLst>
            </a:custGeom>
            <a:solidFill>
              <a:srgbClr val="7C4D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96479" y="2499684"/>
            <a:ext cx="2269046" cy="1072858"/>
            <a:chOff x="0" y="0"/>
            <a:chExt cx="2269045" cy="107285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104" cy="1072894"/>
            </a:xfrm>
            <a:custGeom>
              <a:avLst/>
              <a:gdLst/>
              <a:ahLst/>
              <a:cxnLst/>
              <a:rect r="r" b="b" t="t" l="l"/>
              <a:pathLst>
                <a:path h="1072894" w="2269104">
                  <a:moveTo>
                    <a:pt x="127000" y="0"/>
                  </a:moveTo>
                  <a:lnTo>
                    <a:pt x="2142105" y="0"/>
                  </a:lnTo>
                  <a:lnTo>
                    <a:pt x="2142105" y="9525"/>
                  </a:lnTo>
                  <a:lnTo>
                    <a:pt x="2142105" y="0"/>
                  </a:lnTo>
                  <a:cubicBezTo>
                    <a:pt x="2212209" y="0"/>
                    <a:pt x="2269104" y="56896"/>
                    <a:pt x="2269104" y="127000"/>
                  </a:cubicBezTo>
                  <a:lnTo>
                    <a:pt x="2259580" y="127000"/>
                  </a:lnTo>
                  <a:lnTo>
                    <a:pt x="2269104" y="127000"/>
                  </a:lnTo>
                  <a:lnTo>
                    <a:pt x="2269104" y="945894"/>
                  </a:lnTo>
                  <a:lnTo>
                    <a:pt x="2259580" y="945894"/>
                  </a:lnTo>
                  <a:lnTo>
                    <a:pt x="2269104" y="945894"/>
                  </a:lnTo>
                  <a:cubicBezTo>
                    <a:pt x="2269104" y="1015998"/>
                    <a:pt x="2212209" y="1072894"/>
                    <a:pt x="2142105" y="1072894"/>
                  </a:cubicBezTo>
                  <a:lnTo>
                    <a:pt x="2142105" y="1063369"/>
                  </a:lnTo>
                  <a:lnTo>
                    <a:pt x="2142105" y="1072894"/>
                  </a:lnTo>
                  <a:lnTo>
                    <a:pt x="127000" y="1072894"/>
                  </a:lnTo>
                  <a:lnTo>
                    <a:pt x="127000" y="1063369"/>
                  </a:lnTo>
                  <a:lnTo>
                    <a:pt x="127000" y="1072894"/>
                  </a:lnTo>
                  <a:cubicBezTo>
                    <a:pt x="56896" y="1072894"/>
                    <a:pt x="0" y="1015998"/>
                    <a:pt x="0" y="945894"/>
                  </a:cubicBezTo>
                  <a:lnTo>
                    <a:pt x="9525" y="945894"/>
                  </a:lnTo>
                  <a:lnTo>
                    <a:pt x="0" y="945894"/>
                  </a:lnTo>
                  <a:lnTo>
                    <a:pt x="0" y="127000"/>
                  </a:lnTo>
                  <a:lnTo>
                    <a:pt x="9525" y="127000"/>
                  </a:ln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lnTo>
                    <a:pt x="127000" y="19050"/>
                  </a:lnTo>
                  <a:cubicBezTo>
                    <a:pt x="67437" y="19050"/>
                    <a:pt x="19050" y="67437"/>
                    <a:pt x="19050" y="127000"/>
                  </a:cubicBezTo>
                  <a:lnTo>
                    <a:pt x="19050" y="945894"/>
                  </a:lnTo>
                  <a:cubicBezTo>
                    <a:pt x="19050" y="1005457"/>
                    <a:pt x="67437" y="1053844"/>
                    <a:pt x="127000" y="1053844"/>
                  </a:cubicBezTo>
                  <a:lnTo>
                    <a:pt x="2142105" y="1053844"/>
                  </a:lnTo>
                  <a:cubicBezTo>
                    <a:pt x="2201668" y="1053844"/>
                    <a:pt x="2250055" y="1005457"/>
                    <a:pt x="2250055" y="945894"/>
                  </a:cubicBezTo>
                  <a:lnTo>
                    <a:pt x="2250055" y="127000"/>
                  </a:lnTo>
                  <a:cubicBezTo>
                    <a:pt x="2250055" y="67437"/>
                    <a:pt x="2201668" y="19050"/>
                    <a:pt x="2142105" y="19050"/>
                  </a:cubicBezTo>
                  <a:lnTo>
                    <a:pt x="127000" y="19050"/>
                  </a:lnTo>
                  <a:close/>
                </a:path>
              </a:pathLst>
            </a:custGeom>
            <a:solidFill>
              <a:srgbClr val="E5484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426478" y="2499684"/>
            <a:ext cx="2269046" cy="769839"/>
            <a:chOff x="0" y="0"/>
            <a:chExt cx="2269045" cy="7698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9105" cy="769872"/>
            </a:xfrm>
            <a:custGeom>
              <a:avLst/>
              <a:gdLst/>
              <a:ahLst/>
              <a:cxnLst/>
              <a:rect r="r" b="b" t="t" l="l"/>
              <a:pathLst>
                <a:path h="769872" w="2269105">
                  <a:moveTo>
                    <a:pt x="127000" y="0"/>
                  </a:moveTo>
                  <a:lnTo>
                    <a:pt x="2142105" y="0"/>
                  </a:lnTo>
                  <a:lnTo>
                    <a:pt x="2142105" y="9525"/>
                  </a:lnTo>
                  <a:lnTo>
                    <a:pt x="2142105" y="0"/>
                  </a:lnTo>
                  <a:cubicBezTo>
                    <a:pt x="2212209" y="0"/>
                    <a:pt x="2269105" y="56896"/>
                    <a:pt x="2269105" y="127000"/>
                  </a:cubicBezTo>
                  <a:lnTo>
                    <a:pt x="2259580" y="127000"/>
                  </a:lnTo>
                  <a:lnTo>
                    <a:pt x="2269105" y="127000"/>
                  </a:lnTo>
                  <a:lnTo>
                    <a:pt x="2269105" y="642872"/>
                  </a:lnTo>
                  <a:lnTo>
                    <a:pt x="2259580" y="642872"/>
                  </a:lnTo>
                  <a:lnTo>
                    <a:pt x="2269105" y="642872"/>
                  </a:lnTo>
                  <a:cubicBezTo>
                    <a:pt x="2269105" y="712976"/>
                    <a:pt x="2212209" y="769872"/>
                    <a:pt x="2142105" y="769872"/>
                  </a:cubicBezTo>
                  <a:lnTo>
                    <a:pt x="2142105" y="760347"/>
                  </a:lnTo>
                  <a:lnTo>
                    <a:pt x="2142105" y="769872"/>
                  </a:lnTo>
                  <a:lnTo>
                    <a:pt x="127000" y="769872"/>
                  </a:lnTo>
                  <a:lnTo>
                    <a:pt x="127000" y="760347"/>
                  </a:lnTo>
                  <a:lnTo>
                    <a:pt x="127000" y="769872"/>
                  </a:lnTo>
                  <a:cubicBezTo>
                    <a:pt x="56896" y="769872"/>
                    <a:pt x="0" y="712976"/>
                    <a:pt x="0" y="642872"/>
                  </a:cubicBezTo>
                  <a:lnTo>
                    <a:pt x="9525" y="642872"/>
                  </a:lnTo>
                  <a:lnTo>
                    <a:pt x="0" y="642872"/>
                  </a:lnTo>
                  <a:lnTo>
                    <a:pt x="0" y="127000"/>
                  </a:lnTo>
                  <a:lnTo>
                    <a:pt x="9525" y="127000"/>
                  </a:ln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lnTo>
                    <a:pt x="127000" y="19050"/>
                  </a:lnTo>
                  <a:cubicBezTo>
                    <a:pt x="67437" y="19050"/>
                    <a:pt x="19050" y="67437"/>
                    <a:pt x="19050" y="127000"/>
                  </a:cubicBezTo>
                  <a:lnTo>
                    <a:pt x="19050" y="642872"/>
                  </a:lnTo>
                  <a:cubicBezTo>
                    <a:pt x="19050" y="702435"/>
                    <a:pt x="67437" y="750822"/>
                    <a:pt x="127000" y="750822"/>
                  </a:cubicBezTo>
                  <a:lnTo>
                    <a:pt x="2142105" y="750822"/>
                  </a:lnTo>
                  <a:cubicBezTo>
                    <a:pt x="2201668" y="750822"/>
                    <a:pt x="2250055" y="702435"/>
                    <a:pt x="2250055" y="642872"/>
                  </a:cubicBezTo>
                  <a:lnTo>
                    <a:pt x="2250055" y="127000"/>
                  </a:lnTo>
                  <a:cubicBezTo>
                    <a:pt x="2250055" y="67437"/>
                    <a:pt x="2201668" y="19050"/>
                    <a:pt x="2142105" y="19050"/>
                  </a:cubicBezTo>
                  <a:lnTo>
                    <a:pt x="127000" y="19050"/>
                  </a:lnTo>
                  <a:close/>
                </a:path>
              </a:pathLst>
            </a:custGeom>
            <a:solidFill>
              <a:srgbClr val="E8930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6477" y="2499684"/>
            <a:ext cx="2269046" cy="1072858"/>
            <a:chOff x="0" y="0"/>
            <a:chExt cx="2269045" cy="10728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9105" cy="1072894"/>
            </a:xfrm>
            <a:custGeom>
              <a:avLst/>
              <a:gdLst/>
              <a:ahLst/>
              <a:cxnLst/>
              <a:rect r="r" b="b" t="t" l="l"/>
              <a:pathLst>
                <a:path h="1072894" w="2269105">
                  <a:moveTo>
                    <a:pt x="127000" y="0"/>
                  </a:moveTo>
                  <a:lnTo>
                    <a:pt x="2142105" y="0"/>
                  </a:lnTo>
                  <a:lnTo>
                    <a:pt x="2142105" y="9525"/>
                  </a:lnTo>
                  <a:lnTo>
                    <a:pt x="2142105" y="0"/>
                  </a:lnTo>
                  <a:cubicBezTo>
                    <a:pt x="2212209" y="0"/>
                    <a:pt x="2269105" y="56896"/>
                    <a:pt x="2269105" y="127000"/>
                  </a:cubicBezTo>
                  <a:lnTo>
                    <a:pt x="2259580" y="127000"/>
                  </a:lnTo>
                  <a:lnTo>
                    <a:pt x="2269105" y="127000"/>
                  </a:lnTo>
                  <a:lnTo>
                    <a:pt x="2269105" y="945894"/>
                  </a:lnTo>
                  <a:lnTo>
                    <a:pt x="2259580" y="945894"/>
                  </a:lnTo>
                  <a:lnTo>
                    <a:pt x="2269105" y="945894"/>
                  </a:lnTo>
                  <a:cubicBezTo>
                    <a:pt x="2269105" y="1015998"/>
                    <a:pt x="2212209" y="1072894"/>
                    <a:pt x="2142105" y="1072894"/>
                  </a:cubicBezTo>
                  <a:lnTo>
                    <a:pt x="2142105" y="1063369"/>
                  </a:lnTo>
                  <a:lnTo>
                    <a:pt x="2142105" y="1072894"/>
                  </a:lnTo>
                  <a:lnTo>
                    <a:pt x="127000" y="1072894"/>
                  </a:lnTo>
                  <a:lnTo>
                    <a:pt x="127000" y="1063369"/>
                  </a:lnTo>
                  <a:lnTo>
                    <a:pt x="127000" y="1072894"/>
                  </a:lnTo>
                  <a:cubicBezTo>
                    <a:pt x="56896" y="1072894"/>
                    <a:pt x="0" y="1015998"/>
                    <a:pt x="0" y="945894"/>
                  </a:cubicBezTo>
                  <a:lnTo>
                    <a:pt x="9525" y="945894"/>
                  </a:lnTo>
                  <a:lnTo>
                    <a:pt x="0" y="945894"/>
                  </a:lnTo>
                  <a:lnTo>
                    <a:pt x="0" y="127000"/>
                  </a:lnTo>
                  <a:lnTo>
                    <a:pt x="9525" y="127000"/>
                  </a:ln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lnTo>
                    <a:pt x="127000" y="19050"/>
                  </a:lnTo>
                  <a:cubicBezTo>
                    <a:pt x="67437" y="19050"/>
                    <a:pt x="19050" y="67437"/>
                    <a:pt x="19050" y="127000"/>
                  </a:cubicBezTo>
                  <a:lnTo>
                    <a:pt x="19050" y="945894"/>
                  </a:lnTo>
                  <a:cubicBezTo>
                    <a:pt x="19050" y="1005457"/>
                    <a:pt x="67437" y="1053844"/>
                    <a:pt x="127000" y="1053844"/>
                  </a:cubicBezTo>
                  <a:lnTo>
                    <a:pt x="2142105" y="1053844"/>
                  </a:lnTo>
                  <a:cubicBezTo>
                    <a:pt x="2201668" y="1053844"/>
                    <a:pt x="2250055" y="1005457"/>
                    <a:pt x="2250055" y="945894"/>
                  </a:cubicBezTo>
                  <a:lnTo>
                    <a:pt x="2250055" y="127000"/>
                  </a:lnTo>
                  <a:cubicBezTo>
                    <a:pt x="2250055" y="67437"/>
                    <a:pt x="2201668" y="19050"/>
                    <a:pt x="2142105" y="19050"/>
                  </a:cubicBezTo>
                  <a:lnTo>
                    <a:pt x="127000" y="19050"/>
                  </a:lnTo>
                  <a:close/>
                </a:path>
              </a:pathLst>
            </a:custGeom>
            <a:solidFill>
              <a:srgbClr val="00A39A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75996" y="322412"/>
            <a:ext cx="2098291" cy="5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Conclusión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5996" y="1201112"/>
            <a:ext cx="9660779" cy="918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6"/>
              </a:lnSpc>
            </a:pPr>
            <a:r>
              <a:rPr lang="en-US" b="true" sz="24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La XR apunta a ser una capa más de la operación, pero cada enfoque la adopta a su ritmo.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20004" y="2567530"/>
            <a:ext cx="1192921" cy="31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9D7A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Academia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61577" y="2913402"/>
            <a:ext cx="50235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50003" y="2567530"/>
            <a:ext cx="1117168" cy="31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EC767A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Comercio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91576" y="2913402"/>
            <a:ext cx="50235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80002" y="2567530"/>
            <a:ext cx="993181" cy="31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 spc="3">
                <a:solidFill>
                  <a:srgbClr val="EEAE49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Industria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21575" y="2913402"/>
            <a:ext cx="50235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010001" y="2567530"/>
            <a:ext cx="1811512" cy="31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</a:pPr>
            <a:r>
              <a:rPr lang="en-US" b="true" sz="1700">
                <a:solidFill>
                  <a:srgbClr val="40BAB3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Salud y defensa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62530" y="2913402"/>
            <a:ext cx="50235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20004" y="2875302"/>
            <a:ext cx="1834239" cy="60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b="true" sz="14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buscaevidencia de a prendizaje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150003" y="2875302"/>
            <a:ext cx="1747723" cy="60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b="true" sz="14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buscadispositivos cómodos y baratos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80002" y="2913402"/>
            <a:ext cx="1864157" cy="261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b="true" sz="14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busca productividad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10001" y="2875302"/>
            <a:ext cx="1342215" cy="602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b="true" sz="1400" i="true">
                <a:solidFill>
                  <a:srgbClr val="FFFFFF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buscan reducir r iesgos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5996" y="3892706"/>
            <a:ext cx="9710738" cy="61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b="true" sz="1599" i="true">
                <a:solidFill>
                  <a:srgbClr val="B9B3D9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Las expectativas más realistas unen la XR a un problema concreto, como nuestro simulador de manejo de residuos.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B9B3D9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 7 · Ambientes Virtuales Inmersivos · 7NM78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75028" y="5563048"/>
            <a:ext cx="143789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B9B3D9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5996" y="322412"/>
            <a:ext cx="2189693" cy="523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Referencias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6496" y="1130227"/>
            <a:ext cx="4457986" cy="45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" tooltip="https://abiresearch.com/news-resources/chart-data/extended-reality-xr-market-size"/>
              </a:rPr>
              <a:t> </a:t>
            </a:r>
          </a:p>
          <a:p>
            <a:pPr algn="l">
              <a:lnSpc>
                <a:spcPts val="115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3" tooltip="https://abiresearch.com/news-resources/chart-data/extended-reality-xr-market-size"/>
              </a:rPr>
              <a:t>https://abiresearch.com/news-resources/chart-data/extended-reality- -xr-market-size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5996" y="1120064"/>
            <a:ext cx="4654372" cy="17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AB</a:t>
            </a: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  <a:hlinkClick r:id="rId4" tooltip="https://abiresearch.com/news-resources/chart-data/extended-reality-xr-market-size"/>
              </a:rPr>
              <a:t>IResearch.(2024).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5" tooltip="https://abiresearch.com/news-resources/chart-data/extended-reality-xr-market-size"/>
              </a:rPr>
              <a:t>ExtendedReality(XR) Software/Services Market Size</a:t>
            </a: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  <a:hlinkClick r:id="rId6" tooltip="https://abiresearch.com/news-resources/chart-data/extended-reality-xr-market-size"/>
              </a:rPr>
              <a:t>.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75996" y="1563300"/>
            <a:ext cx="455929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Alaker, M., Wynn, G. R., &amp; Arulampalam, T. (2016). Virtual reality training in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6496" y="1729664"/>
            <a:ext cx="4472502" cy="45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laparoscopic surgery: A systematic revie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7" tooltip="https://doi.org/10.1016/j.ijsu.2016.03.034"/>
              </a:rPr>
              <a:t>w &amp; meta-analysis. </a:t>
            </a:r>
            <a:r>
              <a:rPr lang="en-US" sz="9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  <a:hlinkClick r:id="rId8" tooltip="https://doi.org/10.1016/j.ijsu.2016.03.034"/>
              </a:rPr>
              <a:t>Internationa</a:t>
            </a:r>
            <a:r>
              <a:rPr lang="en-US" sz="9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l Journal of Surgery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, </a:t>
            </a:r>
            <a:r>
              <a:rPr lang="en-US" sz="9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29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, 85-94.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9" tooltip="https://doi.org/10.1016/j.ijsu.2016.03.034"/>
              </a:rPr>
              <a:t> https://doi.org/10.1016/j.ijsu. 2016.03.034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5996" y="2171624"/>
            <a:ext cx="4567838" cy="17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Auganix. (2026). 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Reality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0" tooltip="https://www.auganix.org/?p=18076"/>
              </a:rPr>
              <a:t> Labs Burns $19 Billion in 2025 as Me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 Signals No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6496" y="2303707"/>
            <a:ext cx="3514935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Slowdown in Losses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.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11" tooltip="https://www.auganix.org/?p=18076"/>
              </a:rPr>
              <a:t>https://www.auganix.org/?p=18076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75996" y="2467537"/>
            <a:ext cx="4445556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Brown, M., McCormack, M., Reeves, J., Brooks, D. C., &amp; Grajek, S. (2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12" tooltip="https://library.educause.edu/resources/2020/3/2020-educause-horizon-report-teaching-and-learning-edition"/>
              </a:rPr>
              <a:t>020).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6496" y="2646607"/>
            <a:ext cx="4507211" cy="44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13" tooltip="https://library.educause.edu/resources/2020/3/2020-educause-horizon-report-teaching-and-learning-edition"/>
              </a:rPr>
              <a:t>2020 EDUCAUSE Horizon Report, Teaching and Learning Edition</a:t>
            </a: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  <a:hlinkClick r:id="rId14" tooltip="https://library.educause.edu/resources/2020/3/2020-educause-horizon-report-teaching-and-learning-edition"/>
              </a:rPr>
              <a:t>. https://</a:t>
            </a:r>
          </a:p>
          <a:p>
            <a:pPr algn="l">
              <a:lnSpc>
                <a:spcPts val="115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15" tooltip="https://library.educause.edu/resources/2020/3/2020-educause-horizon-report-teaching-and-learning-edition"/>
              </a:rPr>
              <a:t>librar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16" tooltip="https://library.educause.edu/resources/2020/3/2020-educause-horizon-report-teaching-and-learning-edition"/>
              </a:rPr>
              <a:t>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17" tooltip="https://library.educause.edu/resources/2020/3/2020-educause-horizon-report-teaching-and-learning-edition"/>
              </a:rPr>
              <a:t>y.educause.edu/resources/2020/3/2020-educause-hor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18" tooltip="https://library.educause.edu/resources/2020/3/2020-educause-horizon-report-teaching-and-learning-edition"/>
              </a:rPr>
              <a:t>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19" tooltip="https://library.educause.edu/resources/2020/3/2020-educause-horizon-report-teaching-and-learning-edition"/>
              </a:rPr>
              <a:t>izon-repor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0" tooltip="https://library.educause.edu/resources/2020/3/2020-educause-horizon-report-teaching-and-learning-edition"/>
              </a:rPr>
              <a:t>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1" tooltip="https://library.educause.edu/resources/2020/3/2020-educause-horizon-report-teaching-and-learning-edition"/>
              </a:rPr>
              <a:t>t- -teaching-and-learning-edition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5996" y="3056820"/>
            <a:ext cx="4099550" cy="194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Congressional Research Service. (2026). </a:t>
            </a:r>
            <a:r>
              <a:rPr lang="en-US" sz="9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Army's Integrated Visual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6496" y="3246044"/>
            <a:ext cx="4458376" cy="29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Augmentatio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2" tooltip="https://www.everycrsreport.com/reports/IF13022.html"/>
              </a:rPr>
              <a:t>n System (IVAS)/Soldier Borne Mission Command (SBM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C)</a:t>
            </a: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</a:p>
          <a:p>
            <a:pPr algn="l">
              <a:lnSpc>
                <a:spcPts val="115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(No. IF13022).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3" tooltip="https://www.everycrsreport.com/reports/IF13022.html"/>
              </a:rPr>
              <a:t> https://www.everycrsreport.com/reports/IF13022.html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5996" y="3519097"/>
            <a:ext cx="4494000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Makransky, G., &amp; Petersen, G. B. (2021). The Cognitive Affective Model of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66496" y="3685470"/>
            <a:ext cx="4396721" cy="459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Immersive Learning (CAMIL): A Theoretical Research-Based Model of Learning in Im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4" tooltip="https://doi.org/10.1007/s10648-020-09586-2"/>
              </a:rPr>
              <a:t>mersive Virtual Reality. </a:t>
            </a:r>
            <a:r>
              <a:rPr lang="en-US" sz="9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  <a:hlinkClick r:id="rId25" tooltip="https://doi.org/10.1007/s10648-020-09586-2"/>
              </a:rPr>
              <a:t>Educational Psycholo</a:t>
            </a:r>
            <a:r>
              <a:rPr lang="en-US" sz="9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gy Review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, </a:t>
            </a:r>
            <a:r>
              <a:rPr lang="en-US" sz="9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33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(3), 937-958.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6" tooltip="https://doi.org/10.1007/s10648-020-09586-2"/>
              </a:rPr>
              <a:t>https://doi.org/10.1007/s10648-020-09586-2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75996" y="4127430"/>
            <a:ext cx="4751394" cy="17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Marketing Dive. (2021). 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27" tooltip="https://www.marketingdive.com/news/ars-role-in-shopping-poised-to-swell-in-next-5-years-publicis-and-snap-fi/600839/"/>
              </a:rPr>
              <a:t>'s role in shopping poised to swell in next 5 years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6496" y="4278554"/>
            <a:ext cx="4452033" cy="462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9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  <a:hlinkClick r:id="rId28" tooltip="https://www.marketingdive.com/news/ars-role-in-shopping-poised-to-swell-in-next-5-years-publicis-and-snap-fi/600839/"/>
              </a:rPr>
              <a:t>Publicis and Snap find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29" tooltip="https://www.marketingdive.com/news/ars-role-in-shopping-poised-to-swell-in-next-5-years-publicis-and-snap-fi/600839/"/>
              </a:rPr>
              <a:t>. https://www.marketingdive.com/news/ars-role- -in-shopping-poised-to-swell-in-next-5-years-publicis-and-snap-fi/ 600839/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5996" y="4717980"/>
            <a:ext cx="4753727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Milgram, P., &amp; Kishino, F. (1994). A Taxonomy of Mixed Reality Visual Displays.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6496" y="4897050"/>
            <a:ext cx="4343867" cy="44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0" tooltip="https://global.ieice.org/en_transactions/information/10.1587/e77-d_12_1321/_p"/>
              </a:rPr>
              <a:t>IEICE Transactions on Information and Systems</a:t>
            </a: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  <a:hlinkClick r:id="rId31" tooltip="https://global.ieice.org/en_transactions/information/10.1587/e77-d_12_1321/_p"/>
              </a:rPr>
              <a:t>, 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2" tooltip="https://global.ieice.org/en_transactions/information/10.1587/e77-d_12_1321/_p"/>
              </a:rPr>
              <a:t>E77-D</a:t>
            </a: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  <a:hlinkClick r:id="rId33" tooltip="https://global.ieice.org/en_transactions/information/10.1587/e77-d_12_1321/_p"/>
              </a:rPr>
              <a:t>(12), 1321-1329. </a:t>
            </a:r>
          </a:p>
          <a:p>
            <a:pPr algn="l">
              <a:lnSpc>
                <a:spcPts val="115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34" tooltip="https://global.ieice.org/en_transactions/information/10.1587/e77-d_12_1321/_p"/>
              </a:rPr>
              <a:t>https://global.ieice.org/en_transactions/information/10.1587/e77-d_ 12_1321/_p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5996" y="5563048"/>
            <a:ext cx="3129944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Equipo 7 · Ambientes Virtuales Inmersivos · 7NM78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75028" y="5563048"/>
            <a:ext cx="143789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5F5A73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17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90000" y="1120064"/>
            <a:ext cx="4707484" cy="17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PwC. (2019). 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Seeing is believing: How virtual reali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5" tooltip="https://www.pwc.com/gx/en/news-room/press-releases/2019/seeing-is-believing-vr-ar.html"/>
              </a:rPr>
              <a:t>ty and augmented real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ity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680500" y="1290247"/>
            <a:ext cx="4320026" cy="29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6" tooltip="https://www.pwc.com/gx/en/news-room/press-releases/2019/seeing-is-believing-vr-ar.html"/>
              </a:rPr>
              <a:t>are transforming business and the economy</a:t>
            </a: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  <a:hlinkClick r:id="rId37" tooltip="https://www.pwc.com/gx/en/news-room/press-releases/2019/seeing-is-believing-vr-ar.html"/>
              </a:rPr>
              <a:t>. https://www.pwc.com/</a:t>
            </a:r>
          </a:p>
          <a:p>
            <a:pPr algn="l">
              <a:lnSpc>
                <a:spcPts val="115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38" tooltip="https://www.pwc.com/gx/en/news-room/press-releases/2019/seeing-is-believing-vr-ar.html"/>
              </a:rPr>
              <a:t>gx/en/news-room/press-releases/2019/seeing-is-believing-vr-ar.html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90000" y="1572187"/>
            <a:ext cx="4404617" cy="17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PwC. (2020). 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The Effect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39" tooltip="https://www.pwc.com/us/vlearning"/>
              </a:rPr>
              <a:t>iveness of Virtual Reality Soft Skills Tra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ining in the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680500" y="1704270"/>
            <a:ext cx="3477368" cy="186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sz="9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Enterprise: A Study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.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40" tooltip="https://www.pwc.com/us/vlearning"/>
              </a:rPr>
              <a:t>https://www.pwc.com/us/vlearning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90000" y="1868100"/>
            <a:ext cx="4125592" cy="184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Radianti, J., Majchrzak, T. A., Fromm, J., &amp; Wohlgenannt, I. (2020). A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680500" y="2034464"/>
            <a:ext cx="4362907" cy="60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systematic review of immersive virtual reality applications for higher education: Design elements, lessons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41" tooltip="https://doi.org/10.1016/j.compedu.2019.103778"/>
              </a:rPr>
              <a:t>learned, and research ag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enda. </a:t>
            </a:r>
            <a:r>
              <a:rPr lang="en-US" sz="9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  <a:hlinkClick r:id="rId42" tooltip="https://doi.org/10.1016/j.compedu.2019.103778"/>
              </a:rPr>
              <a:t>Computers &amp; Education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, </a:t>
            </a:r>
            <a:r>
              <a:rPr lang="en-US" sz="9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</a:rPr>
              <a:t>147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, 103778.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43" tooltip="https://doi.org/10.1016/j.compedu.2019.103778"/>
              </a:rPr>
              <a:t> https://doi.org/10.1016/j. compedu.2019.103778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90000" y="2623747"/>
            <a:ext cx="4290108" cy="17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Road to VR. (2026). 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Meta Sold Over 7 Milli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44" tooltip="https://roadtovr.com/meta-ray-ban-smart-glasses-sales-tripled-2025/"/>
              </a:rPr>
              <a:t>on Smart Glasses Last Year,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680500" y="2793930"/>
            <a:ext cx="4393740" cy="29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45" tooltip="https://roadtovr.com/meta-ray-ban-smart-glasses-sales-tripled-2025/"/>
              </a:rPr>
              <a:t>Effectively Tripling Sales in 2025 Alone</a:t>
            </a: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  <a:hlinkClick r:id="rId46" tooltip="https://roadtovr.com/meta-ray-ban-smart-glasses-sales-tripled-2025/"/>
              </a:rPr>
              <a:t>.</a:t>
            </a: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 </a:t>
            </a: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  <a:hlinkClick r:id="rId47" tooltip="https://roadtovr.com/meta-ray-ban-smart-glasses-sales-tripled-2025/"/>
              </a:rPr>
              <a:t>https://roadtovr.com/meta-ray-</a:t>
            </a:r>
          </a:p>
          <a:p>
            <a:pPr algn="l">
              <a:lnSpc>
                <a:spcPts val="1159"/>
              </a:lnSpc>
            </a:pPr>
            <a:r>
              <a:rPr lang="en-US" b="true" sz="999" i="true" spc="1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48" tooltip="https://roadtovr.com/meta-ray-ban-smart-glasses-sales-tripled-2025/"/>
              </a:rPr>
              <a:t>-ban-smart-glasses-sales-tripled-2025/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90000" y="3075870"/>
            <a:ext cx="4610071" cy="175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"/>
              </a:lnSpc>
            </a:pP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</a:rPr>
              <a:t>Ubrani, J. (2026, j</a:t>
            </a: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  <a:hlinkClick r:id="rId49" tooltip="https://www.idc.com/resource-center/blog/smart-glasses-surge-the-xr-market-is-rewriting-its-own-rules/"/>
              </a:rPr>
              <a:t>unio 15). 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50" tooltip="https://www.idc.com/resource-center/blog/smart-glasses-surge-the-xr-market-is-rewriting-its-own-rules/"/>
              </a:rPr>
              <a:t>Smart Glasses Surge: The XR Market Is Rewr</a:t>
            </a: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iting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680500" y="3226994"/>
            <a:ext cx="4079605" cy="314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sz="999">
                <a:solidFill>
                  <a:srgbClr val="000000"/>
                </a:solidFill>
                <a:latin typeface="ITC Avant Garde Gothic"/>
                <a:ea typeface="ITC Avant Garde Gothic"/>
                <a:cs typeface="ITC Avant Garde Gothic"/>
                <a:sym typeface="ITC Avant Garde Gothic"/>
                <a:hlinkClick r:id="rId51" tooltip="https://www.idc.com/resource-center/blog/smart-glasses-surge-the-xr-market-is-rewriting-its-own-rules/"/>
              </a:rPr>
              <a:t>Its Own Rules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52" tooltip="https://www.idc.com/resource-center/blog/smart-glasses-surge-the-xr-market-is-rewriting-its-own-rules/"/>
              </a:rPr>
              <a:t>. https://www.idc.com/resource-center/blog/smart- -glasses-surge-the-xr-market-is-rewriting-its-own-rules/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490000" y="3538147"/>
            <a:ext cx="4707874" cy="60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Wellener, P., Coykendall, J., Hardin, K.,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53" tooltip="https://www.deloitte.com/us/en/insights/industry/manufacturing-industrial-products/industrial-metaverse-applications-smart-factory.html"/>
              </a:rPr>
              <a:t>Morehouse, J., &amp; Brousell, D. R. (202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</a:rPr>
              <a:t>3). </a:t>
            </a:r>
          </a:p>
          <a:p>
            <a:pPr algn="l">
              <a:lnSpc>
                <a:spcPts val="1159"/>
              </a:lnSpc>
            </a:pPr>
            <a:r>
              <a:rPr lang="en-US" sz="999" spc="1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  <a:hlinkClick r:id="rId54" tooltip="https://www.deloitte.com/us/en/insights/industry/manufacturing-industrial-products/industrial-metaverse-applications-smart-factory.html"/>
              </a:rPr>
              <a:t>Exploring the industrial metaverse</a:t>
            </a:r>
            <a:r>
              <a:rPr lang="en-US" b="true" sz="999" i="true" spc="13">
                <a:solidFill>
                  <a:srgbClr val="000000"/>
                </a:solidFill>
                <a:latin typeface="Open Sans Bold Italics"/>
                <a:ea typeface="Open Sans Bold Italics"/>
                <a:cs typeface="Open Sans Bold Italics"/>
                <a:sym typeface="Open Sans Bold Italics"/>
                <a:hlinkClick r:id="rId55" tooltip="https://www.deloitte.com/us/en/insights/industry/manufacturing-industrial-products/industrial-metaverse-applications-smart-factory.html"/>
              </a:rPr>
              <a:t>. https://www.deloitte.com/us/en/</a:t>
            </a:r>
          </a:p>
          <a:p>
            <a:pPr algn="l">
              <a:lnSpc>
                <a:spcPts val="115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56" tooltip="https://www.deloitte.com/us/en/insights/industry/manufacturing-industrial-products/industrial-metaverse-applications-smart-factory.html"/>
              </a:rPr>
              <a:t>insights/indus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57" tooltip="https://www.deloitte.com/us/en/insights/industry/manufacturing-industrial-products/industrial-metaverse-applications-smart-factory.html"/>
              </a:rPr>
              <a:t>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58" tooltip="https://www.deloitte.com/us/en/insights/industry/manufacturing-industrial-products/industrial-metaverse-applications-smart-factory.html"/>
              </a:rPr>
              <a:t>tr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59" tooltip="https://www.deloitte.com/us/en/insights/industry/manufacturing-industrial-products/industrial-metaverse-applications-smart-factory.html"/>
              </a:rPr>
              <a:t>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60" tooltip="https://www.deloitte.com/us/en/insights/industry/manufacturing-industrial-products/industrial-metaverse-applications-smart-factory.html"/>
              </a:rPr>
              <a:t>y/manufactur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61" tooltip="https://www.deloitte.com/us/en/insights/industry/manufacturing-industrial-products/industrial-metaverse-applications-smart-factory.html"/>
              </a:rPr>
              <a:t>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62" tooltip="https://www.deloitte.com/us/en/insights/industry/manufacturing-industrial-products/industrial-metaverse-applications-smart-factory.html"/>
              </a:rPr>
              <a:t>ing-indus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63" tooltip="https://www.deloitte.com/us/en/insights/industry/manufacturing-industrial-products/industrial-metaverse-applications-smart-factory.html"/>
              </a:rPr>
              <a:t>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64" tooltip="https://www.deloitte.com/us/en/insights/industry/manufacturing-industrial-products/industrial-metaverse-applications-smart-factory.html"/>
              </a:rPr>
              <a:t>tr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65" tooltip="https://www.deloitte.com/us/en/insights/industry/manufacturing-industrial-products/industrial-metaverse-applications-smart-factory.html"/>
              </a:rPr>
              <a:t>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66" tooltip="https://www.deloitte.com/us/en/insights/industry/manufacturing-industrial-products/industrial-metaverse-applications-smart-factory.html"/>
              </a:rPr>
              <a:t>ial-products/indus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67" tooltip="https://www.deloitte.com/us/en/insights/industry/manufacturing-industrial-products/industrial-metaverse-applications-smart-factory.html"/>
              </a:rPr>
              <a:t>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68" tooltip="https://www.deloitte.com/us/en/insights/industry/manufacturing-industrial-products/industrial-metaverse-applications-smart-factory.html"/>
              </a:rPr>
              <a:t>tr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69" tooltip="https://www.deloitte.com/us/en/insights/industry/manufacturing-industrial-products/industrial-metaverse-applications-smart-factory.html"/>
              </a:rPr>
              <a:t>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70" tooltip="https://www.deloitte.com/us/en/insights/industry/manufacturing-industrial-products/industrial-metaverse-applications-smart-factory.html"/>
              </a:rPr>
              <a:t>ial-</a:t>
            </a:r>
          </a:p>
          <a:p>
            <a:pPr algn="l">
              <a:lnSpc>
                <a:spcPts val="1159"/>
              </a:lnSpc>
            </a:pP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71" tooltip="https://www.deloitte.com/us/en/insights/industry/manufacturing-industrial-products/industrial-metaverse-applications-smart-factory.html"/>
              </a:rPr>
              <a:t>-metaver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72" tooltip="https://www.deloitte.com/us/en/insights/industry/manufacturing-industrial-products/industrial-metaverse-applications-smart-factory.html"/>
              </a:rPr>
              <a:t>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73" tooltip="https://www.deloitte.com/us/en/insights/industry/manufacturing-industrial-products/industrial-metaverse-applications-smart-factory.html"/>
              </a:rPr>
              <a:t>se-a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74" tooltip="https://www.deloitte.com/us/en/insights/industry/manufacturing-industrial-products/industrial-metaverse-applications-smart-factory.html"/>
              </a:rPr>
              <a:t>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75" tooltip="https://www.deloitte.com/us/en/insights/industry/manufacturing-industrial-products/industrial-metaverse-applications-smart-factory.html"/>
              </a:rPr>
              <a:t>pplications-smar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76" tooltip="https://www.deloitte.com/us/en/insights/industry/manufacturing-industrial-products/industrial-metaverse-applications-smart-factory.html"/>
              </a:rPr>
              <a:t>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77" tooltip="https://www.deloitte.com/us/en/insights/industry/manufacturing-industrial-products/industrial-metaverse-applications-smart-factory.html"/>
              </a:rPr>
              <a:t>t-factor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78" tooltip="https://www.deloitte.com/us/en/insights/industry/manufacturing-industrial-products/industrial-metaverse-applications-smart-factory.html"/>
              </a:rPr>
              <a:t> </a:t>
            </a:r>
            <a:r>
              <a:rPr lang="en-US" b="true" sz="999" i="true">
                <a:solidFill>
                  <a:srgbClr val="000000"/>
                </a:solidFill>
                <a:latin typeface="ITC Avant Garde Gothic Bold Italics"/>
                <a:ea typeface="ITC Avant Garde Gothic Bold Italics"/>
                <a:cs typeface="ITC Avant Garde Gothic Bold Italics"/>
                <a:sym typeface="ITC Avant Garde Gothic Bold Italics"/>
                <a:hlinkClick r:id="rId79" tooltip="https://www.deloitte.com/us/en/insights/industry/manufacturing-industrial-products/industrial-metaverse-applications-smart-factory.html"/>
              </a:rPr>
              <a:t>y.html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DAHYkYGPzWc</dc:identifier>
  <dcterms:modified xsi:type="dcterms:W3CDTF">2011-08-01T06:04:30Z</dcterms:modified>
  <cp:revision>1</cp:revision>
  <dc:title>presentacion.pdf</dc:title>
</cp:coreProperties>
</file>